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Five systems, strict hierarchy: the ICCC decides everything; edge towers process and report; tags broadcast direct; cameras feed the edge; drones fly only on ICCC command.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Eight SOP-ready use cases against IMAF's five-minimum. Missing person and SOS showcase cross-system correlation at the ICCC.</a:t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41c9d76a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f41c9d76a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one-diagram pitch. Six numbered flows: cameras→tower (raw), tower→ICCC (metadata, −90%), tag→ICCC (direct GSM), ICCC→dock (command), drone→ICCC (feed), ICCC→speakers (PA). Note the dock is standalone — not wired to the tower.</a:t>
            </a:r>
            <a:endParaRPr/>
          </a:p>
        </p:txBody>
      </p:sp>
      <p:sp>
        <p:nvSpPr>
          <p:cNvPr id="112" name="Google Shape;112;g3f41c9d76a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41c9d76af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f41c9d76af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41c9d76af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41c9d76af_1_1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f41c9d76af_1_1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System 3 with the use-case mapping the CEO asked for. 80/15/5 mix from the PRD; bidirectionality (speakers) is the differentiator — the ICCC can talk through any pole.</a:t>
            </a:r>
            <a:endParaRPr/>
          </a:p>
        </p:txBody>
      </p:sp>
      <p:sp>
        <p:nvSpPr>
          <p:cNvPr id="176" name="Google Shape;176;g3f41c9d76af_1_1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41c9d76af_1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f41c9d76af_1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Drone deck features with realistic timings baked in. Six mission profiles ready on day one.</a:t>
            </a:r>
            <a:endParaRPr/>
          </a:p>
        </p:txBody>
      </p:sp>
      <p:sp>
        <p:nvSpPr>
          <p:cNvPr id="204" name="Google Shape;204;g3f41c9d76af_1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41c9d76af_1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f41c9d76af_1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System 2 on ZMD's own Arrow Lake hardware. Capacity: 16–24 AI streams base, 32–64 with the GPU slot populated. Role box repeats the governance rule.</a:t>
            </a:r>
            <a:endParaRPr/>
          </a:p>
        </p:txBody>
      </p:sp>
      <p:sp>
        <p:nvSpPr>
          <p:cNvPr id="245" name="Google Shape;245;g3f41c9d76af_1_1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41c9d76af_1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f41c9d76af_1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System 1. The ICCC is the only entity that commands — drones and announcements included. Everything else in the stack exists to inform it faster.</a:t>
            </a:r>
            <a:endParaRPr/>
          </a:p>
        </p:txBody>
      </p:sp>
      <p:sp>
        <p:nvSpPr>
          <p:cNvPr id="267" name="Google Shape;267;g3f41c9d76af_1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4200910cd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4200910cd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4200910cd_5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f4200910cd_5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4200910cd_5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f4200910cd_5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4200910cd_5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f4200910cd_5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f41c9d76af_1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g3f41c9d76af_1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Compliance now phrased 'designed to meet' throughout, per the PRD's own framing. SLA tiles use the validated numbers.</a:t>
            </a:r>
            <a:endParaRPr/>
          </a:p>
        </p:txBody>
      </p:sp>
      <p:sp>
        <p:nvSpPr>
          <p:cNvPr id="492" name="Google Shape;492;g3f41c9d76af_1_2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4914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10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13.png"/><Relationship Id="rId11" Type="http://schemas.openxmlformats.org/officeDocument/2006/relationships/image" Target="../media/image5.png"/><Relationship Id="rId10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g"/><Relationship Id="rId4" Type="http://schemas.openxmlformats.org/officeDocument/2006/relationships/image" Target="../media/image21.png"/><Relationship Id="rId10" Type="http://schemas.openxmlformats.org/officeDocument/2006/relationships/image" Target="../media/image36.png"/><Relationship Id="rId9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g"/><Relationship Id="rId4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32.jpg"/><Relationship Id="rId5" Type="http://schemas.openxmlformats.org/officeDocument/2006/relationships/image" Target="../media/image40.png"/><Relationship Id="rId6" Type="http://schemas.openxmlformats.org/officeDocument/2006/relationships/image" Target="../media/image3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jpg"/><Relationship Id="rId4" Type="http://schemas.openxmlformats.org/officeDocument/2006/relationships/image" Target="../media/image23.png"/><Relationship Id="rId10" Type="http://schemas.openxmlformats.org/officeDocument/2006/relationships/image" Target="../media/image48.png"/><Relationship Id="rId9" Type="http://schemas.openxmlformats.org/officeDocument/2006/relationships/image" Target="../media/image13.png"/><Relationship Id="rId5" Type="http://schemas.openxmlformats.org/officeDocument/2006/relationships/image" Target="../media/image43.png"/><Relationship Id="rId6" Type="http://schemas.openxmlformats.org/officeDocument/2006/relationships/image" Target="../media/image33.png"/><Relationship Id="rId7" Type="http://schemas.openxmlformats.org/officeDocument/2006/relationships/image" Target="../media/image25.png"/><Relationship Id="rId8" Type="http://schemas.openxmlformats.org/officeDocument/2006/relationships/image" Target="../media/image4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Relationship Id="rId4" Type="http://schemas.openxmlformats.org/officeDocument/2006/relationships/image" Target="../media/image5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14.png"/><Relationship Id="rId9" Type="http://schemas.openxmlformats.org/officeDocument/2006/relationships/image" Target="../media/image22.png"/><Relationship Id="rId5" Type="http://schemas.openxmlformats.org/officeDocument/2006/relationships/image" Target="../media/image42.png"/><Relationship Id="rId6" Type="http://schemas.openxmlformats.org/officeDocument/2006/relationships/image" Target="../media/image39.png"/><Relationship Id="rId7" Type="http://schemas.openxmlformats.org/officeDocument/2006/relationships/image" Target="../media/image41.png"/><Relationship Id="rId8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Relationship Id="rId4" Type="http://schemas.openxmlformats.org/officeDocument/2006/relationships/image" Target="../media/image13.png"/><Relationship Id="rId5" Type="http://schemas.openxmlformats.org/officeDocument/2006/relationships/image" Target="../media/image42.png"/><Relationship Id="rId6" Type="http://schemas.openxmlformats.org/officeDocument/2006/relationships/image" Target="../media/image39.png"/><Relationship Id="rId7" Type="http://schemas.openxmlformats.org/officeDocument/2006/relationships/image" Target="../media/image41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Relationship Id="rId4" Type="http://schemas.openxmlformats.org/officeDocument/2006/relationships/image" Target="../media/image16.png"/><Relationship Id="rId5" Type="http://schemas.openxmlformats.org/officeDocument/2006/relationships/image" Target="../media/image42.png"/><Relationship Id="rId6" Type="http://schemas.openxmlformats.org/officeDocument/2006/relationships/image" Target="../media/image39.png"/><Relationship Id="rId7" Type="http://schemas.openxmlformats.org/officeDocument/2006/relationships/image" Target="../media/image41.png"/><Relationship Id="rId8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Relationship Id="rId4" Type="http://schemas.openxmlformats.org/officeDocument/2006/relationships/image" Target="../media/image5.png"/><Relationship Id="rId9" Type="http://schemas.openxmlformats.org/officeDocument/2006/relationships/image" Target="../media/image54.png"/><Relationship Id="rId5" Type="http://schemas.openxmlformats.org/officeDocument/2006/relationships/image" Target="../media/image41.png"/><Relationship Id="rId6" Type="http://schemas.openxmlformats.org/officeDocument/2006/relationships/image" Target="../media/image39.png"/><Relationship Id="rId7" Type="http://schemas.openxmlformats.org/officeDocument/2006/relationships/image" Target="../media/image42.png"/><Relationship Id="rId8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Relationship Id="rId4" Type="http://schemas.openxmlformats.org/officeDocument/2006/relationships/image" Target="../media/image51.png"/><Relationship Id="rId5" Type="http://schemas.openxmlformats.org/officeDocument/2006/relationships/image" Target="../media/image55.png"/><Relationship Id="rId6" Type="http://schemas.openxmlformats.org/officeDocument/2006/relationships/image" Target="../media/image53.png"/><Relationship Id="rId7" Type="http://schemas.openxmlformats.org/officeDocument/2006/relationships/image" Target="../media/image13.png"/><Relationship Id="rId8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pl_media/image6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738" y="0"/>
            <a:ext cx="3045866" cy="1822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media/image5.png" id="21" name="Google Shape;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" y="3068726"/>
            <a:ext cx="3405226" cy="2074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media/image2.png" id="22" name="Google Shape;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3553358" cy="49770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media/image7.png" id="23" name="Google Shape;2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380183"/>
            <a:ext cx="2729484" cy="27633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media/image3.png" id="24" name="Google Shape;2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0020" y="1249985"/>
            <a:ext cx="2971800" cy="199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pl_media/image1.png" id="25" name="Google Shape;25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63363" y="4246474"/>
            <a:ext cx="1093622" cy="770839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/>
          <p:nvPr/>
        </p:nvSpPr>
        <p:spPr>
          <a:xfrm>
            <a:off x="3977640" y="914400"/>
            <a:ext cx="48463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The City That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Responds in Seconds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977640" y="2331720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ZMD Smart City Security 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977640" y="27889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Five systems, one response loop — aligned to India's ICCC mandate (IMAF 2.0).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977640" y="3520440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ICCC</a:t>
            </a:r>
            <a:r>
              <a:rPr b="0" i="0" lang="en-US" sz="11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i="0" lang="en-US" sz="11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Edge Towers</a:t>
            </a:r>
            <a:r>
              <a:rPr b="0" i="0" lang="en-US" sz="11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Safety </a:t>
            </a:r>
            <a:r>
              <a:rPr b="1" lang="en-US" sz="1150">
                <a:solidFill>
                  <a:srgbClr val="E6000C"/>
                </a:solidFill>
              </a:rPr>
              <a:t>Bands</a:t>
            </a:r>
            <a:r>
              <a:rPr b="0" i="0" lang="en-US" sz="11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i="0" lang="en-US" sz="11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Cameras</a:t>
            </a:r>
            <a:r>
              <a:rPr b="0" i="0" lang="en-US" sz="11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 ·  </a:t>
            </a: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Drones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IMAF 2.0 Framework for Security &amp; Surveillance</a:t>
            </a:r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457200" y="1097280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What 'security &amp; surveillance' means under India's ICCC mandate — and the IMAF 2.0 pillar behind each</a:t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57200" y="1481328"/>
            <a:ext cx="8229600" cy="40233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548640" y="1481328"/>
            <a:ext cx="15087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CAPABILITY</a:t>
            </a:r>
            <a:endParaRPr/>
          </a:p>
        </p:txBody>
      </p:sp>
      <p:sp>
        <p:nvSpPr>
          <p:cNvPr id="38" name="Google Shape;38;p5"/>
          <p:cNvSpPr txBox="1"/>
          <p:nvPr/>
        </p:nvSpPr>
        <p:spPr>
          <a:xfrm>
            <a:off x="2148840" y="1481328"/>
            <a:ext cx="33832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DELIVERS  (Security &amp; Surveillance)</a:t>
            </a:r>
            <a:endParaRPr/>
          </a:p>
        </p:txBody>
      </p:sp>
      <p:sp>
        <p:nvSpPr>
          <p:cNvPr id="39" name="Google Shape;39;p5"/>
          <p:cNvSpPr txBox="1"/>
          <p:nvPr/>
        </p:nvSpPr>
        <p:spPr>
          <a:xfrm>
            <a:off x="5623560" y="1481328"/>
            <a:ext cx="29718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IMAF 2.0 PILLAR</a:t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457200" y="1938528"/>
            <a:ext cx="822960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548640" y="193852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/>
          </a:p>
        </p:txBody>
      </p:sp>
      <p:sp>
        <p:nvSpPr>
          <p:cNvPr id="42" name="Google Shape;42;p5"/>
          <p:cNvSpPr txBox="1"/>
          <p:nvPr/>
        </p:nvSpPr>
        <p:spPr>
          <a:xfrm>
            <a:off x="2148840" y="193852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Spot incidents automatically — intrusion, fire, crowds, anomalies, number plates</a:t>
            </a:r>
            <a:endParaRPr/>
          </a:p>
        </p:txBody>
      </p:sp>
      <p:sp>
        <p:nvSpPr>
          <p:cNvPr id="43" name="Google Shape;43;p5"/>
          <p:cNvSpPr txBox="1"/>
          <p:nvPr/>
        </p:nvSpPr>
        <p:spPr>
          <a:xfrm>
            <a:off x="5623560" y="1938528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 Cases (II, 15%) · Infrastructure (I)</a:t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57200" y="2441448"/>
            <a:ext cx="8229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548640" y="244144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DETER</a:t>
            </a:r>
            <a:endParaRPr/>
          </a:p>
        </p:txBody>
      </p:sp>
      <p:sp>
        <p:nvSpPr>
          <p:cNvPr id="46" name="Google Shape;46;p5"/>
          <p:cNvSpPr txBox="1"/>
          <p:nvPr/>
        </p:nvSpPr>
        <p:spPr>
          <a:xfrm>
            <a:off x="2148840" y="244144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Warn &amp; prevent — camera talk-down, warning lights, visible response</a:t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5623560" y="2441448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Use Cases (II) · Stakeholder Engagement (IX)</a:t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57200" y="2944368"/>
            <a:ext cx="822960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548640" y="294436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RESPOND</a:t>
            </a:r>
            <a:endParaRPr/>
          </a:p>
        </p:txBody>
      </p:sp>
      <p:sp>
        <p:nvSpPr>
          <p:cNvPr id="50" name="Google Shape;50;p5"/>
          <p:cNvSpPr txBox="1"/>
          <p:nvPr/>
        </p:nvSpPr>
        <p:spPr>
          <a:xfrm>
            <a:off x="2148840" y="2944368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Act in seconds — dispatch drones &amp; responders, live public announcements</a:t>
            </a: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5623560" y="2944368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Interdepartmental Coordination (VIII, 15%)</a:t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57200" y="3447287"/>
            <a:ext cx="8229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548640" y="3447287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RECORD</a:t>
            </a:r>
            <a:endParaRPr/>
          </a:p>
        </p:txBody>
      </p:sp>
      <p:sp>
        <p:nvSpPr>
          <p:cNvPr id="54" name="Google Shape;54;p5"/>
          <p:cNvSpPr txBox="1"/>
          <p:nvPr/>
        </p:nvSpPr>
        <p:spPr>
          <a:xfrm>
            <a:off x="2148840" y="3447287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Capture &amp; retain admissible evidence, auto-logged to CCTNS</a:t>
            </a: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5623560" y="3447287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Data Lifecycle (IV) · Governance (V)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57200" y="3950207"/>
            <a:ext cx="8229600" cy="5029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548640" y="3950207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PROTECT</a:t>
            </a:r>
            <a:endParaRPr/>
          </a:p>
        </p:txBody>
      </p:sp>
      <p:sp>
        <p:nvSpPr>
          <p:cNvPr id="58" name="Google Shape;58;p5"/>
          <p:cNvSpPr txBox="1"/>
          <p:nvPr/>
        </p:nvSpPr>
        <p:spPr>
          <a:xfrm>
            <a:off x="2148840" y="3950207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Secure the system &amp; citizen data end-to-end</a:t>
            </a: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5623560" y="3950207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9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Cybersecurity (III, 15%) · Data Lifecycle (IV)</a:t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457200" y="452628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ZMD delivers all five — designed against IMAF 2.0, MoHUA's five-star ICCC maturity framework.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457200" y="6583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Security &amp; Surveillance Use Cases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7200" y="109728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IMAF requires 5+ SOP-documented use cases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1463040"/>
            <a:ext cx="1947600" cy="13167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179576" y="1591056"/>
            <a:ext cx="457200" cy="4572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" name="Google Shape;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8448" y="17099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530352" y="2103120"/>
            <a:ext cx="180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Intrusion &amp; perimeter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66928" y="2340864"/>
            <a:ext cx="172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Line-crossing, loitering, restricted zones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2587752" y="1463040"/>
            <a:ext cx="1947600" cy="13167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310128" y="1591056"/>
            <a:ext cx="457200" cy="4572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5" name="Google Shape;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9000" y="17099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6"/>
          <p:cNvSpPr/>
          <p:nvPr/>
        </p:nvSpPr>
        <p:spPr>
          <a:xfrm>
            <a:off x="2660904" y="2103120"/>
            <a:ext cx="180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Crowd density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2697480" y="2340864"/>
            <a:ext cx="172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Overcrowding alerts for events &amp; transit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718304" y="1463040"/>
            <a:ext cx="1947600" cy="13167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40680" y="1591056"/>
            <a:ext cx="457200" cy="4572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0" name="Google Shape;8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59552" y="17099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6"/>
          <p:cNvSpPr/>
          <p:nvPr/>
        </p:nvSpPr>
        <p:spPr>
          <a:xfrm>
            <a:off x="4791456" y="2103120"/>
            <a:ext cx="180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ANPR → CCTNS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828032" y="2340864"/>
            <a:ext cx="172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Plates read at the edge, logged nationally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848856" y="1463040"/>
            <a:ext cx="1947600" cy="13167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571232" y="1591056"/>
            <a:ext cx="457200" cy="4572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5" name="Google Shape;8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90104" y="17099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/>
          <p:nvPr/>
        </p:nvSpPr>
        <p:spPr>
          <a:xfrm>
            <a:off x="6922008" y="2103120"/>
            <a:ext cx="180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Fire &amp; smoke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958584" y="2340864"/>
            <a:ext cx="172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From video — no extra sensors needed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57200" y="2944368"/>
            <a:ext cx="1947600" cy="13167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179576" y="3072384"/>
            <a:ext cx="457200" cy="4572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0" name="Google Shape;9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98448" y="31912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530352" y="3584448"/>
            <a:ext cx="180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Abandoned object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66928" y="3822192"/>
            <a:ext cx="172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Unattended-object detection &amp; escalation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587752" y="2944368"/>
            <a:ext cx="1947600" cy="13167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310128" y="3072384"/>
            <a:ext cx="457200" cy="4572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5" name="Google Shape;95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29000" y="31912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2660904" y="3584448"/>
            <a:ext cx="180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Audio anomaly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697480" y="3822192"/>
            <a:ext cx="172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Gunshot / scream detection zones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718304" y="2944368"/>
            <a:ext cx="1947600" cy="13167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440680" y="3072384"/>
            <a:ext cx="457200" cy="4572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0" name="Google Shape;100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59552" y="31912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4791456" y="3584448"/>
            <a:ext cx="180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Missing person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828032" y="3822192"/>
            <a:ext cx="172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Tag geofence + camera correlation at ICCC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848856" y="2944368"/>
            <a:ext cx="1947600" cy="13167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7571232" y="3072384"/>
            <a:ext cx="457200" cy="4572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5" name="Google Shape;105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90104" y="31912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6922008" y="3584448"/>
            <a:ext cx="1801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Citizen SOS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958584" y="3822192"/>
            <a:ext cx="1728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Tag alerts with GPS, direct to command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7200" y="452628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Impact of use cases carries 50% of the IMAF assessment score — each of these ships with a documented SOP.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457200" y="6583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41414"/>
                </a:solidFill>
              </a:rPr>
              <a:t>ZMD Ecosystem: </a:t>
            </a: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Five Systems, One Response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57200" y="109728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The edge processes everything; the command centre decides on what matters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ity_wide.png" id="116" name="Google Shape;11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417320"/>
            <a:ext cx="8229601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7"/>
          <p:cNvSpPr/>
          <p:nvPr/>
        </p:nvSpPr>
        <p:spPr>
          <a:xfrm>
            <a:off x="457200" y="1417383"/>
            <a:ext cx="8229600" cy="3017400"/>
          </a:xfrm>
          <a:prstGeom prst="roundRect">
            <a:avLst>
              <a:gd fmla="val 606" name="adj"/>
            </a:avLst>
          </a:prstGeom>
          <a:solidFill>
            <a:srgbClr val="FFFFFF">
              <a:alpha val="0"/>
            </a:srgbClr>
          </a:solidFill>
          <a:ln cap="flat" cmpd="sng" w="19050">
            <a:solidFill>
              <a:srgbClr val="C9C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063240" y="1572768"/>
            <a:ext cx="3017400" cy="731400"/>
          </a:xfrm>
          <a:prstGeom prst="roundRect">
            <a:avLst>
              <a:gd fmla="val 12500" name="adj"/>
            </a:avLst>
          </a:prstGeom>
          <a:solidFill>
            <a:srgbClr val="2A2A2A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3218688" y="1737360"/>
            <a:ext cx="402300" cy="402300"/>
          </a:xfrm>
          <a:prstGeom prst="ellipse">
            <a:avLst/>
          </a:prstGeom>
          <a:solidFill>
            <a:srgbClr val="E600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0" name="Google Shape;12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3295" y="1841967"/>
            <a:ext cx="193121" cy="1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/>
          <p:nvPr/>
        </p:nvSpPr>
        <p:spPr>
          <a:xfrm>
            <a:off x="3730752" y="1664208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INTEGRATED COMMAND &amp; CONTROL CENTRE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730752" y="198424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63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FF5A63"/>
                </a:solidFill>
                <a:latin typeface="Arial"/>
                <a:ea typeface="Arial"/>
                <a:cs typeface="Arial"/>
                <a:sym typeface="Arial"/>
              </a:rPr>
              <a:t>every decision · drones · announcements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77240" y="2194560"/>
            <a:ext cx="329100" cy="3291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4" name="Google Shape;12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2828" y="2280148"/>
            <a:ext cx="158008" cy="15800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/>
          <p:nvPr/>
        </p:nvSpPr>
        <p:spPr>
          <a:xfrm>
            <a:off x="494278" y="1988740"/>
            <a:ext cx="1005900" cy="219600"/>
          </a:xfrm>
          <a:prstGeom prst="roundRect">
            <a:avLst>
              <a:gd fmla="val 20833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900"/>
              <a:t>PTZ Cameras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984248" y="3310128"/>
            <a:ext cx="567000" cy="567000"/>
          </a:xfrm>
          <a:prstGeom prst="ellipse">
            <a:avLst/>
          </a:prstGeom>
          <a:solidFill>
            <a:srgbClr val="E600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27" name="Google Shape;12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31649" y="3457529"/>
            <a:ext cx="272125" cy="272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1600200" y="3950208"/>
            <a:ext cx="1371600" cy="219600"/>
          </a:xfrm>
          <a:prstGeom prst="roundRect">
            <a:avLst>
              <a:gd fmla="val 20833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600200" y="395935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EDGE TOWER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417320" y="4187952"/>
            <a:ext cx="1737300" cy="365700"/>
          </a:xfrm>
          <a:prstGeom prst="roundRect">
            <a:avLst>
              <a:gd fmla="val 12500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1417320" y="4206240"/>
            <a:ext cx="1737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processes video · reports to command</a:t>
            </a:r>
            <a:br>
              <a:rPr b="0" i="1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whole zone · commands nothing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94960" y="2999232"/>
            <a:ext cx="256032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5559552" y="3145536"/>
            <a:ext cx="73200" cy="73200"/>
          </a:xfrm>
          <a:prstGeom prst="ellipse">
            <a:avLst/>
          </a:prstGeom>
          <a:solidFill>
            <a:srgbClr val="E600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029200" y="3456432"/>
            <a:ext cx="1005900" cy="219600"/>
          </a:xfrm>
          <a:prstGeom prst="roundRect">
            <a:avLst>
              <a:gd fmla="val 20833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5029200" y="3465576"/>
            <a:ext cx="1005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SAFETY BAND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892040" y="3694176"/>
            <a:ext cx="1326000" cy="365700"/>
          </a:xfrm>
          <a:prstGeom prst="roundRect">
            <a:avLst>
              <a:gd fmla="val 12500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4892040" y="3712464"/>
            <a:ext cx="1326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direct alert</a:t>
            </a:r>
            <a:br>
              <a:rPr b="0" i="1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to command centre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470648" y="31546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6995160" y="3785616"/>
            <a:ext cx="1417200" cy="219600"/>
          </a:xfrm>
          <a:prstGeom prst="roundRect">
            <a:avLst>
              <a:gd fmla="val 20833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995160" y="3794760"/>
            <a:ext cx="141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DRONE DOCK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903720" y="4023360"/>
            <a:ext cx="1600200" cy="365700"/>
          </a:xfrm>
          <a:prstGeom prst="roundRect">
            <a:avLst>
              <a:gd fmla="val 12500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903720" y="4041648"/>
            <a:ext cx="1600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standalone · 24×7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ICCC-commanded only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73568" y="199339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2359152" y="2935224"/>
            <a:ext cx="1673400" cy="219600"/>
          </a:xfrm>
          <a:prstGeom prst="roundRect">
            <a:avLst>
              <a:gd fmla="val 20833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395728" y="2944368"/>
            <a:ext cx="1600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metadata + short clips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358384" y="2715768"/>
            <a:ext cx="987600" cy="219600"/>
          </a:xfrm>
          <a:prstGeom prst="roundRect">
            <a:avLst>
              <a:gd fmla="val 20833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394960" y="2724912"/>
            <a:ext cx="914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SOS · direct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748272" y="2688336"/>
            <a:ext cx="1490400" cy="219600"/>
          </a:xfrm>
          <a:prstGeom prst="roundRect">
            <a:avLst>
              <a:gd fmla="val 20833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784848" y="2697480"/>
            <a:ext cx="1417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dispatch command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278624" y="1682496"/>
            <a:ext cx="1261800" cy="219600"/>
          </a:xfrm>
          <a:prstGeom prst="roundRect">
            <a:avLst>
              <a:gd fmla="val 20833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7315200" y="1691640"/>
            <a:ext cx="1188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live aerial feed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014984" y="1682496"/>
            <a:ext cx="1810500" cy="219600"/>
          </a:xfrm>
          <a:prstGeom prst="roundRect">
            <a:avLst>
              <a:gd fmla="val 20833" name="adj"/>
            </a:avLst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 rot="2417098">
            <a:off x="1098370" y="2694588"/>
            <a:ext cx="1349697" cy="17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announcements · via edge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7"/>
          <p:cNvCxnSpPr>
            <a:stCxn id="122" idx="3"/>
            <a:endCxn id="138" idx="1"/>
          </p:cNvCxnSpPr>
          <p:nvPr/>
        </p:nvCxnSpPr>
        <p:spPr>
          <a:xfrm>
            <a:off x="6016752" y="2098548"/>
            <a:ext cx="1453800" cy="128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7"/>
          <p:cNvCxnSpPr>
            <a:stCxn id="126" idx="1"/>
            <a:endCxn id="123" idx="5"/>
          </p:cNvCxnSpPr>
          <p:nvPr/>
        </p:nvCxnSpPr>
        <p:spPr>
          <a:xfrm rot="10800000">
            <a:off x="1058083" y="2475463"/>
            <a:ext cx="1009200" cy="9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7"/>
          <p:cNvCxnSpPr>
            <a:endCxn id="126" idx="1"/>
          </p:cNvCxnSpPr>
          <p:nvPr/>
        </p:nvCxnSpPr>
        <p:spPr>
          <a:xfrm>
            <a:off x="1073083" y="2499163"/>
            <a:ext cx="994200" cy="89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7"/>
          <p:cNvCxnSpPr>
            <a:stCxn id="126" idx="7"/>
          </p:cNvCxnSpPr>
          <p:nvPr/>
        </p:nvCxnSpPr>
        <p:spPr>
          <a:xfrm flipH="1" rot="10800000">
            <a:off x="2468213" y="2289463"/>
            <a:ext cx="858300" cy="110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triangle"/>
          </a:ln>
        </p:spPr>
      </p:cxnSp>
      <p:cxnSp>
        <p:nvCxnSpPr>
          <p:cNvPr id="158" name="Google Shape;158;p7"/>
          <p:cNvCxnSpPr/>
          <p:nvPr/>
        </p:nvCxnSpPr>
        <p:spPr>
          <a:xfrm rot="10800000">
            <a:off x="4996776" y="2304132"/>
            <a:ext cx="526200" cy="69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7"/>
          <p:cNvCxnSpPr/>
          <p:nvPr/>
        </p:nvCxnSpPr>
        <p:spPr>
          <a:xfrm rot="10800000">
            <a:off x="6080652" y="1841983"/>
            <a:ext cx="1956900" cy="33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" name="Google Shape;160;p7"/>
          <p:cNvSpPr/>
          <p:nvPr/>
        </p:nvSpPr>
        <p:spPr>
          <a:xfrm>
            <a:off x="7300625" y="3579600"/>
            <a:ext cx="806400" cy="111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457200" y="581693"/>
            <a:ext cx="6309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41414"/>
                </a:solidFill>
              </a:rPr>
              <a:t>Safety</a:t>
            </a: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2400">
                <a:solidFill>
                  <a:srgbClr val="141414"/>
                </a:solidFill>
              </a:rPr>
              <a:t>Band</a:t>
            </a: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457200" y="1020600"/>
            <a:ext cx="433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6000C"/>
                </a:solidFill>
              </a:rPr>
              <a:t>Multi-Sensor Safety Band for Instant Emergency Detection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675" y="1503100"/>
            <a:ext cx="5471424" cy="3215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8"/>
          <p:cNvGrpSpPr/>
          <p:nvPr/>
        </p:nvGrpSpPr>
        <p:grpSpPr>
          <a:xfrm>
            <a:off x="5826525" y="1517350"/>
            <a:ext cx="3206100" cy="3186750"/>
            <a:chOff x="5840475" y="1561175"/>
            <a:chExt cx="3206100" cy="3186750"/>
          </a:xfrm>
        </p:grpSpPr>
        <p:sp>
          <p:nvSpPr>
            <p:cNvPr id="170" name="Google Shape;170;p8"/>
            <p:cNvSpPr/>
            <p:nvPr/>
          </p:nvSpPr>
          <p:spPr>
            <a:xfrm>
              <a:off x="5840475" y="1561175"/>
              <a:ext cx="3206100" cy="954600"/>
            </a:xfrm>
            <a:prstGeom prst="roundRect">
              <a:avLst>
                <a:gd fmla="val 14545" name="adj"/>
              </a:avLst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E1261C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E1261C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1261C"/>
                  </a:solidFill>
                </a:rPr>
                <a:t>KEY DIFFERENTIATOR | </a:t>
              </a:r>
              <a:r>
                <a:rPr lang="en-US" sz="1100">
                  <a:solidFill>
                    <a:schemeClr val="dk1"/>
                  </a:solidFill>
                </a:rPr>
                <a:t> Instead of offering isolated safety function, the safety band integrates the functions that currently exist across multiple products into one band.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</a:rPr>
                <a:t> 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5840475" y="3793325"/>
              <a:ext cx="3206100" cy="954600"/>
            </a:xfrm>
            <a:prstGeom prst="roundRect">
              <a:avLst>
                <a:gd fmla="val 14545" name="adj"/>
              </a:avLst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E1261C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E1261C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1261C"/>
                  </a:solidFill>
                </a:rPr>
                <a:t>DATA PRIVACY |</a:t>
              </a:r>
              <a:r>
                <a:rPr lang="en-US" sz="1100">
                  <a:solidFill>
                    <a:schemeClr val="dk1"/>
                  </a:solidFill>
                </a:rPr>
                <a:t> </a:t>
              </a:r>
              <a:r>
                <a:rPr lang="en-US" sz="1100">
                  <a:solidFill>
                    <a:schemeClr val="dk1"/>
                  </a:solidFill>
                </a:rPr>
                <a:t>Secure PIN based Authentication. Information is accessible only to the user, with emergency access granted to responders when required.</a:t>
              </a:r>
              <a:endParaRPr b="1" sz="1100">
                <a:solidFill>
                  <a:srgbClr val="E1261C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chemeClr val="dk1"/>
                  </a:solidFill>
                </a:rPr>
                <a:t> 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5840475" y="2600000"/>
              <a:ext cx="3206100" cy="1109100"/>
            </a:xfrm>
            <a:prstGeom prst="roundRect">
              <a:avLst>
                <a:gd fmla="val 14545" name="adj"/>
              </a:avLst>
            </a:prstGeom>
            <a:solidFill>
              <a:srgbClr val="EAEA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E1261C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E1261C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E1261C"/>
                  </a:solidFill>
                </a:rPr>
                <a:t>DIGITAL INFORMATION |</a:t>
              </a:r>
              <a:r>
                <a:rPr lang="en-US" sz="1100">
                  <a:solidFill>
                    <a:schemeClr val="dk1"/>
                  </a:solidFill>
                </a:rPr>
                <a:t> </a:t>
              </a:r>
              <a:r>
                <a:rPr lang="en-US" sz="1100">
                  <a:solidFill>
                    <a:schemeClr val="dk1"/>
                  </a:solidFill>
                </a:rPr>
                <a:t>Safety Band contains a unique identification number linked to a secure profile. Authorized emergency responders can instantly retrieve this information to provide informed and timely assistance.</a:t>
              </a:r>
              <a:endParaRPr b="1" sz="1100">
                <a:solidFill>
                  <a:srgbClr val="E1261C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100">
                <a:solidFill>
                  <a:srgbClr val="E1261C"/>
                </a:solidFill>
              </a:endParaRPr>
            </a:p>
            <a:p>
              <a:pPr indent="0" lvl="0" marL="0" rtl="0" algn="just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>
            <a:off x="457200" y="1463040"/>
            <a:ext cx="3063300" cy="27888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6951" y="1559049"/>
            <a:ext cx="2523750" cy="2523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  <p:sp>
        <p:nvSpPr>
          <p:cNvPr id="180" name="Google Shape;180;p9"/>
          <p:cNvSpPr txBox="1"/>
          <p:nvPr/>
        </p:nvSpPr>
        <p:spPr>
          <a:xfrm>
            <a:off x="493265" y="4114791"/>
            <a:ext cx="288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Next-Generation PTZ Camera</a:t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703320" y="1517904"/>
            <a:ext cx="402300" cy="4023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⌂</a:t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4251959" y="1490472"/>
            <a:ext cx="443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Rugged, vandal-proof housing</a:t>
            </a:r>
            <a:endParaRPr/>
          </a:p>
        </p:txBody>
      </p:sp>
      <p:sp>
        <p:nvSpPr>
          <p:cNvPr id="183" name="Google Shape;183;p9"/>
          <p:cNvSpPr txBox="1"/>
          <p:nvPr/>
        </p:nvSpPr>
        <p:spPr>
          <a:xfrm>
            <a:off x="4251959" y="1732788"/>
            <a:ext cx="4434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All-weather industrial chassis with a reinforced dome for high-risk zones.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3703320" y="2066543"/>
            <a:ext cx="402300" cy="4023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↻</a:t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4251959" y="2039112"/>
            <a:ext cx="443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Full-motion PTZ + auto-track</a:t>
            </a:r>
            <a:endParaRPr/>
          </a:p>
        </p:txBody>
      </p:sp>
      <p:sp>
        <p:nvSpPr>
          <p:cNvPr id="186" name="Google Shape;186;p9"/>
          <p:cNvSpPr txBox="1"/>
          <p:nvPr/>
        </p:nvSpPr>
        <p:spPr>
          <a:xfrm>
            <a:off x="4251959" y="2281427"/>
            <a:ext cx="4434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Motorised pan-tilt-zoom sweeps the whole area — no blind spots.</a:t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3703320" y="2615184"/>
            <a:ext cx="402300" cy="40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D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5.png" id="188" name="Google Shape;18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21607" y="2688336"/>
            <a:ext cx="365760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9"/>
          <p:cNvSpPr txBox="1"/>
          <p:nvPr/>
        </p:nvSpPr>
        <p:spPr>
          <a:xfrm>
            <a:off x="4251959" y="2587752"/>
            <a:ext cx="443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Ultra-HD clarity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4251959" y="2830068"/>
            <a:ext cx="4434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Sharp enough to read number plates and faces, even at long zoom.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703320" y="3163824"/>
            <a:ext cx="402300" cy="4023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◑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4251959" y="3136392"/>
            <a:ext cx="443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Colour night vision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4251959" y="3378708"/>
            <a:ext cx="4434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Full-colour footage in complete darkness with an integrated spotlight.</a:t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3703320" y="3712463"/>
            <a:ext cx="402300" cy="4023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4251959" y="3685031"/>
            <a:ext cx="443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Active deterrence</a:t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4251959" y="3927348"/>
            <a:ext cx="4434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Two-way audio talk-down plus flashing red &amp; blue warning lights.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457200" y="4526280"/>
            <a:ext cx="8229600" cy="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Every feed is processed at the edge; PTZ, audio and alerts return through the edge — never straight from command.</a:t>
            </a:r>
            <a:endParaRPr/>
          </a:p>
        </p:txBody>
      </p:sp>
      <p:sp>
        <p:nvSpPr>
          <p:cNvPr id="198" name="Google Shape;198;p9"/>
          <p:cNvSpPr txBox="1"/>
          <p:nvPr/>
        </p:nvSpPr>
        <p:spPr>
          <a:xfrm>
            <a:off x="457200" y="658368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The PTZ Camera</a:t>
            </a:r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457200" y="1097280"/>
            <a:ext cx="8229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A rugged, all-weather eye that sees in the dark, speaks back, and tracks on its own — every feed through the edge.</a:t>
            </a:r>
            <a:endParaRPr/>
          </a:p>
        </p:txBody>
      </p:sp>
      <p:pic>
        <p:nvPicPr>
          <p:cNvPr id="200" name="Google Shape;200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951" y="1559049"/>
            <a:ext cx="2523750" cy="25237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381700" y="596693"/>
            <a:ext cx="6309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Drone Platform — Feature Set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178419" y="1039201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6000C"/>
                </a:solidFill>
              </a:rPr>
              <a:t>Autonomous flight, full sensor suite, mission payloads, and rapid emergency response—reaching destinations up to</a:t>
            </a:r>
            <a:endParaRPr b="1" sz="1150">
              <a:solidFill>
                <a:srgbClr val="E6000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E6000C"/>
                </a:solidFill>
              </a:rPr>
              <a:t> 1 km in approximately 50–60 seconds with 24/7 deployment from autonomous docking stations.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483050" y="1579450"/>
            <a:ext cx="2137800" cy="10995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63623" rotWithShape="0" algn="bl" dir="2700000" dist="21208">
              <a:srgbClr val="000000">
                <a:alpha val="18040"/>
              </a:srgbClr>
            </a:outerShdw>
          </a:effectLst>
        </p:spPr>
        <p:txBody>
          <a:bodyPr anchorCtr="0" anchor="ctr" bIns="76325" lIns="76325" spcFirstLastPara="1" rIns="76325" wrap="square" tIns="7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603504" y="1591056"/>
            <a:ext cx="365700" cy="3657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602" y="168615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/>
          <p:nvPr/>
        </p:nvSpPr>
        <p:spPr>
          <a:xfrm>
            <a:off x="1078992" y="1627632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Autonomous flight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603504" y="1938528"/>
            <a:ext cx="23409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RTK GPS Precision Navigation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AI Path Planning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Autonomous Waypoint Missions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Real-time Obstacle Avoidance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Pilot-less Standard Operations</a:t>
            </a:r>
            <a:endParaRPr sz="8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3354439" y="1567925"/>
            <a:ext cx="2137800" cy="10995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63623" rotWithShape="0" algn="bl" dir="2700000" dist="21208">
              <a:srgbClr val="000000">
                <a:alpha val="18040"/>
              </a:srgbClr>
            </a:outerShdw>
          </a:effectLst>
        </p:spPr>
        <p:txBody>
          <a:bodyPr anchorCtr="0" anchor="ctr" bIns="76325" lIns="76325" spcFirstLastPara="1" rIns="76325" wrap="square" tIns="7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6475650" y="1686150"/>
            <a:ext cx="2137800" cy="10995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63623" rotWithShape="0" algn="bl" dir="2700000" dist="21208">
              <a:srgbClr val="000000">
                <a:alpha val="18040"/>
              </a:srgbClr>
            </a:outerShdw>
          </a:effectLst>
        </p:spPr>
        <p:txBody>
          <a:bodyPr anchorCtr="0" anchor="ctr" bIns="76325" lIns="76325" spcFirstLastPara="1" rIns="76325" wrap="square" tIns="7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3499293" y="3852425"/>
            <a:ext cx="2137800" cy="10995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63623" rotWithShape="0" algn="bl" dir="2700000" dist="21208">
              <a:srgbClr val="000000">
                <a:alpha val="18040"/>
              </a:srgbClr>
            </a:outerShdw>
          </a:effectLst>
        </p:spPr>
        <p:txBody>
          <a:bodyPr anchorCtr="0" anchor="ctr" bIns="76325" lIns="76325" spcFirstLastPara="1" rIns="76325" wrap="square" tIns="7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530875" y="3517100"/>
            <a:ext cx="2137800" cy="10995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63623" rotWithShape="0" algn="bl" dir="2700000" dist="21208">
              <a:srgbClr val="000000">
                <a:alpha val="18040"/>
              </a:srgbClr>
            </a:outerShdw>
          </a:effectLst>
        </p:spPr>
        <p:txBody>
          <a:bodyPr anchorCtr="0" anchor="ctr" bIns="76325" lIns="76325" spcFirstLastPara="1" rIns="76325" wrap="square" tIns="7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94143" y="1674629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0"/>
          <p:cNvSpPr/>
          <p:nvPr/>
        </p:nvSpPr>
        <p:spPr>
          <a:xfrm>
            <a:off x="3909219" y="1616107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A63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5A63"/>
                </a:solidFill>
              </a:rPr>
              <a:t>Rapid Response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3313988" y="1927003"/>
            <a:ext cx="23409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50"/>
              <a:buChar char="●"/>
            </a:pPr>
            <a:r>
              <a:rPr lang="en-US" sz="850">
                <a:solidFill>
                  <a:srgbClr val="141414"/>
                </a:solidFill>
              </a:rPr>
              <a:t>Airborne in ~5 Seconds</a:t>
            </a:r>
            <a:endParaRPr sz="850">
              <a:solidFill>
                <a:srgbClr val="141414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50"/>
              <a:buChar char="●"/>
            </a:pPr>
            <a:r>
              <a:rPr lang="en-US" sz="850">
                <a:solidFill>
                  <a:srgbClr val="141414"/>
                </a:solidFill>
              </a:rPr>
              <a:t>1 km Response in ~50–60 Seconds</a:t>
            </a:r>
            <a:endParaRPr sz="850">
              <a:solidFill>
                <a:srgbClr val="141414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50"/>
              <a:buChar char="●"/>
            </a:pPr>
            <a:r>
              <a:rPr lang="en-US" sz="850">
                <a:solidFill>
                  <a:srgbClr val="141414"/>
                </a:solidFill>
              </a:rPr>
              <a:t>Cruise Speed: ~60–70 km/h</a:t>
            </a:r>
            <a:endParaRPr sz="850">
              <a:solidFill>
                <a:srgbClr val="141414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50"/>
              <a:buChar char="●"/>
            </a:pPr>
            <a:r>
              <a:rPr lang="en-US" sz="850">
                <a:solidFill>
                  <a:srgbClr val="141414"/>
                </a:solidFill>
              </a:rPr>
              <a:t>24×7 Mission Ready</a:t>
            </a:r>
            <a:endParaRPr sz="850">
              <a:solidFill>
                <a:srgbClr val="141414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rgbClr val="141414"/>
              </a:solidFill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464808" y="1705356"/>
            <a:ext cx="365700" cy="3657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1" name="Google Shape;22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9906" y="180045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0"/>
          <p:cNvSpPr/>
          <p:nvPr/>
        </p:nvSpPr>
        <p:spPr>
          <a:xfrm>
            <a:off x="6940296" y="1741932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6000C"/>
                </a:solidFill>
              </a:rPr>
              <a:t>Integrated Payload Suite</a:t>
            </a:r>
            <a:endParaRPr b="0" i="0" sz="1100" u="none" cap="none" strike="noStrike">
              <a:solidFill>
                <a:srgbClr val="E600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6464808" y="2052828"/>
            <a:ext cx="23409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4K Optical Camera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Thermal Camera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Loudspeaker &amp; Microphone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LED Display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Spotlight</a:t>
            </a:r>
            <a:endParaRPr sz="8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</a:endParaRPr>
          </a:p>
        </p:txBody>
      </p:sp>
      <p:pic>
        <p:nvPicPr>
          <p:cNvPr descr="preencoded.png" id="224" name="Google Shape;22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2406" y="3621855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0"/>
          <p:cNvSpPr/>
          <p:nvPr/>
        </p:nvSpPr>
        <p:spPr>
          <a:xfrm>
            <a:off x="981021" y="3577046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A6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5A63"/>
                </a:solidFill>
                <a:latin typeface="Arial"/>
                <a:ea typeface="Arial"/>
                <a:cs typeface="Arial"/>
                <a:sym typeface="Arial"/>
              </a:rPr>
              <a:t>Mission payloads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05533" y="3834155"/>
            <a:ext cx="23409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25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41414"/>
              </a:buClr>
              <a:buSzPts val="850"/>
              <a:buChar char="●"/>
            </a:pPr>
            <a:r>
              <a:rPr lang="en-US" sz="850">
                <a:solidFill>
                  <a:srgbClr val="141414"/>
                </a:solidFill>
              </a:rPr>
              <a:t>First-Aid Kit</a:t>
            </a:r>
            <a:endParaRPr sz="850">
              <a:solidFill>
                <a:srgbClr val="141414"/>
              </a:solidFill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50"/>
              <a:buChar char="●"/>
            </a:pPr>
            <a:r>
              <a:rPr lang="en-US" sz="850">
                <a:solidFill>
                  <a:srgbClr val="141414"/>
                </a:solidFill>
              </a:rPr>
              <a:t>Fire Blanket</a:t>
            </a:r>
            <a:endParaRPr sz="850">
              <a:solidFill>
                <a:srgbClr val="141414"/>
              </a:solidFill>
            </a:endParaRPr>
          </a:p>
          <a:p>
            <a:pPr indent="-2825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50"/>
              <a:buChar char="●"/>
            </a:pPr>
            <a:r>
              <a:rPr lang="en-US" sz="850">
                <a:solidFill>
                  <a:srgbClr val="141414"/>
                </a:solidFill>
              </a:rPr>
              <a:t>Life Jacket with GPS Beacon</a:t>
            </a:r>
            <a:endParaRPr sz="850">
              <a:solidFill>
                <a:srgbClr val="141414"/>
              </a:solidFill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475650" y="3770775"/>
            <a:ext cx="2137800" cy="1099500"/>
          </a:xfrm>
          <a:prstGeom prst="roundRect">
            <a:avLst>
              <a:gd fmla="val 5556" name="adj"/>
            </a:avLst>
          </a:prstGeom>
          <a:solidFill>
            <a:srgbClr val="F4F4F4"/>
          </a:solidFill>
          <a:ln>
            <a:noFill/>
          </a:ln>
          <a:effectLst>
            <a:outerShdw blurRad="63623" rotWithShape="0" algn="bl" dir="2700000" dist="21208">
              <a:srgbClr val="000000">
                <a:alpha val="18040"/>
              </a:srgbClr>
            </a:outerShdw>
          </a:effectLst>
        </p:spPr>
        <p:txBody>
          <a:bodyPr anchorCtr="0" anchor="ctr" bIns="76325" lIns="76325" spcFirstLastPara="1" rIns="76325" wrap="square" tIns="76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3551389" y="3828948"/>
            <a:ext cx="365700" cy="3657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3551389" y="4176420"/>
            <a:ext cx="23409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Autonomous Docking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Automatic Charging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Health Self-Tests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Fleet Monitoring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Remote Mission Dispatch</a:t>
            </a:r>
            <a:endParaRPr sz="850">
              <a:solidFill>
                <a:schemeClr val="dk1"/>
              </a:solidFill>
            </a:endParaRPr>
          </a:p>
        </p:txBody>
      </p:sp>
      <p:pic>
        <p:nvPicPr>
          <p:cNvPr descr="preencoded.png" id="230" name="Google Shape;23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51922" y="3940368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 txBox="1"/>
          <p:nvPr/>
        </p:nvSpPr>
        <p:spPr>
          <a:xfrm>
            <a:off x="3925467" y="3854750"/>
            <a:ext cx="1670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6000C"/>
                </a:solidFill>
              </a:rPr>
              <a:t>Fleet &amp; docking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52435" y="3913153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7032825" y="3854631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A6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5A63"/>
                </a:solidFill>
                <a:latin typeface="Arial"/>
                <a:ea typeface="Arial"/>
                <a:cs typeface="Arial"/>
                <a:sym typeface="Arial"/>
              </a:rPr>
              <a:t>Six mission profiles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6557337" y="4165527"/>
            <a:ext cx="23409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Road Accidents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Fallen Person Detection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Cardiac Emergency (AED)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Fire Mapping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Flood Rescue</a:t>
            </a:r>
            <a:endParaRPr sz="850">
              <a:solidFill>
                <a:schemeClr val="dk1"/>
              </a:solidFill>
            </a:endParaRPr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Char char="●"/>
            </a:pPr>
            <a:r>
              <a:rPr lang="en-US" sz="850">
                <a:solidFill>
                  <a:schemeClr val="dk1"/>
                </a:solidFill>
              </a:rPr>
              <a:t>Event Surveillance</a:t>
            </a:r>
            <a:endParaRPr sz="8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</a:endParaRPr>
          </a:p>
        </p:txBody>
      </p:sp>
      <p:pic>
        <p:nvPicPr>
          <p:cNvPr id="235" name="Google Shape;235;p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90525" y="2836000"/>
            <a:ext cx="1603781" cy="881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" name="Google Shape;236;p10"/>
          <p:cNvCxnSpPr/>
          <p:nvPr/>
        </p:nvCxnSpPr>
        <p:spPr>
          <a:xfrm flipH="1" rot="10800000">
            <a:off x="5308181" y="2747862"/>
            <a:ext cx="1100100" cy="51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10"/>
          <p:cNvCxnSpPr/>
          <p:nvPr/>
        </p:nvCxnSpPr>
        <p:spPr>
          <a:xfrm rot="10800000">
            <a:off x="2642900" y="2665175"/>
            <a:ext cx="1059300" cy="33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10"/>
          <p:cNvCxnSpPr>
            <a:endCxn id="225" idx="3"/>
          </p:cNvCxnSpPr>
          <p:nvPr/>
        </p:nvCxnSpPr>
        <p:spPr>
          <a:xfrm flipH="1">
            <a:off x="2901321" y="3383996"/>
            <a:ext cx="12243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10"/>
          <p:cNvCxnSpPr>
            <a:stCxn id="235" idx="2"/>
          </p:cNvCxnSpPr>
          <p:nvPr/>
        </p:nvCxnSpPr>
        <p:spPr>
          <a:xfrm>
            <a:off x="4492416" y="3717775"/>
            <a:ext cx="0" cy="8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10"/>
          <p:cNvCxnSpPr/>
          <p:nvPr/>
        </p:nvCxnSpPr>
        <p:spPr>
          <a:xfrm>
            <a:off x="5352575" y="3523775"/>
            <a:ext cx="1126200" cy="39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p10"/>
          <p:cNvCxnSpPr/>
          <p:nvPr/>
        </p:nvCxnSpPr>
        <p:spPr>
          <a:xfrm rot="10800000">
            <a:off x="4489667" y="2713300"/>
            <a:ext cx="8100" cy="1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"/>
          <p:cNvSpPr/>
          <p:nvPr/>
        </p:nvSpPr>
        <p:spPr>
          <a:xfrm>
            <a:off x="457200" y="658368"/>
            <a:ext cx="6217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ZMD Edge Compute </a:t>
            </a:r>
            <a:r>
              <a:rPr b="1" lang="en-US" sz="2400">
                <a:solidFill>
                  <a:srgbClr val="141414"/>
                </a:solidFill>
              </a:rPr>
              <a:t>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457200" y="109728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Processes every camera in its zone — sends only what matters to command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57200" y="1463040"/>
            <a:ext cx="3612000" cy="2761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DF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548640" y="3913632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ZMD Edge Compute — rugged · zone-ready</a:t>
            </a:r>
            <a:endParaRPr/>
          </a:p>
        </p:txBody>
      </p:sp>
      <p:sp>
        <p:nvSpPr>
          <p:cNvPr id="251" name="Google Shape;251;p11"/>
          <p:cNvSpPr txBox="1"/>
          <p:nvPr/>
        </p:nvSpPr>
        <p:spPr>
          <a:xfrm>
            <a:off x="4251960" y="1517904"/>
            <a:ext cx="43890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WHAT THE EDGE DELIVERS</a:t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4251960" y="1956816"/>
            <a:ext cx="255900" cy="2559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53" name="Google Shape;253;p11"/>
          <p:cNvSpPr txBox="1"/>
          <p:nvPr/>
        </p:nvSpPr>
        <p:spPr>
          <a:xfrm>
            <a:off x="4617720" y="1911096"/>
            <a:ext cx="41604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Real-time AI on every camera feed — detection in the blink of an eye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251960" y="2450592"/>
            <a:ext cx="255900" cy="2559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4617720" y="2404872"/>
            <a:ext cx="41604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Sends alerts and short clips to command — never raw video</a:t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4251960" y="2944368"/>
            <a:ext cx="255900" cy="2559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57" name="Google Shape;257;p11"/>
          <p:cNvSpPr txBox="1"/>
          <p:nvPr/>
        </p:nvSpPr>
        <p:spPr>
          <a:xfrm>
            <a:off x="4617720" y="2898648"/>
            <a:ext cx="41604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Runs the whole zone locally; keeps working if the network drops</a:t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4251960" y="3438144"/>
            <a:ext cx="255900" cy="2559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4617720" y="3392424"/>
            <a:ext cx="41604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Scales up as the city grows — more cameras, more analytics</a:t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251960" y="3931920"/>
            <a:ext cx="255900" cy="2559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4617720" y="3886200"/>
            <a:ext cx="41604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Secure by design — encrypted, signed, tamper-resistant</a:t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457200" y="4407408"/>
            <a:ext cx="8229600" cy="1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One edge tower covers a full neighbourhood — every camera connects to it, and only it reports to command.</a:t>
            </a:r>
            <a:endParaRPr/>
          </a:p>
        </p:txBody>
      </p:sp>
      <p:pic>
        <p:nvPicPr>
          <p:cNvPr id="263" name="Google Shape;26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031" y="1765725"/>
            <a:ext cx="3014344" cy="177197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DFD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/>
          <p:nvPr/>
        </p:nvSpPr>
        <p:spPr>
          <a:xfrm>
            <a:off x="457200" y="658368"/>
            <a:ext cx="6217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The Brain: Command &amp; Control Centre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457200" y="109728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The operational and legal locus — every decision, dispatch, and announcement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457200" y="1517904"/>
            <a:ext cx="42063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WHAT IT DECIDES</a:t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457200" y="1956816"/>
            <a:ext cx="255900" cy="2559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797894" y="2021385"/>
            <a:ext cx="41604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Single-pane view of edge alerts, drone feeds &amp; safety tags</a:t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457200" y="2450592"/>
            <a:ext cx="255900" cy="2559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75" name="Google Shape;275;p12"/>
          <p:cNvSpPr txBox="1"/>
          <p:nvPr/>
        </p:nvSpPr>
        <p:spPr>
          <a:xfrm>
            <a:off x="797894" y="2515161"/>
            <a:ext cx="41604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Alert triage — from edge event to operator in seconds</a:t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457200" y="2944368"/>
            <a:ext cx="255900" cy="2559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77" name="Google Shape;277;p12"/>
          <p:cNvSpPr txBox="1"/>
          <p:nvPr/>
        </p:nvSpPr>
        <p:spPr>
          <a:xfrm>
            <a:off x="797894" y="3008937"/>
            <a:ext cx="41604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Sole drone authority — operators initiate every mission</a:t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457200" y="3438144"/>
            <a:ext cx="255900" cy="2559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79" name="Google Shape;279;p12"/>
          <p:cNvSpPr txBox="1"/>
          <p:nvPr/>
        </p:nvSpPr>
        <p:spPr>
          <a:xfrm>
            <a:off x="797894" y="3502713"/>
            <a:ext cx="41604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Two-way public address, relayed through the edge</a:t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457200" y="3931920"/>
            <a:ext cx="255900" cy="255900"/>
          </a:xfrm>
          <a:prstGeom prst="roundRect">
            <a:avLst>
              <a:gd fmla="val 16667" name="adj"/>
            </a:avLst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797894" y="3996489"/>
            <a:ext cx="4160400" cy="1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SOP rule engine — auto-escalation &amp; routing (IMAF Pillar II)</a:t>
            </a:r>
            <a:endParaRPr/>
          </a:p>
        </p:txBody>
      </p:sp>
      <p:sp>
        <p:nvSpPr>
          <p:cNvPr id="282" name="Google Shape;282;p12"/>
          <p:cNvSpPr txBox="1"/>
          <p:nvPr/>
        </p:nvSpPr>
        <p:spPr>
          <a:xfrm>
            <a:off x="457200" y="4443984"/>
            <a:ext cx="8229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Designed to the ICCC Maturity Assessment Framework (IMAF 2.0, MoHUA) · CCTNS-logged · DPDP-compliant · N+1 uptime</a:t>
            </a:r>
            <a:endParaRPr/>
          </a:p>
        </p:txBody>
      </p:sp>
      <p:pic>
        <p:nvPicPr>
          <p:cNvPr id="283" name="Google Shape;283;p12" title="be033bfac2de7c5b95b8def78f7c2e3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8648" y="1838336"/>
            <a:ext cx="4480499" cy="2075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/>
          <p:nvPr/>
        </p:nvSpPr>
        <p:spPr>
          <a:xfrm>
            <a:off x="457200" y="640080"/>
            <a:ext cx="548700" cy="5487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89" name="Google Shape;2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784" y="7406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3"/>
          <p:cNvSpPr txBox="1"/>
          <p:nvPr/>
        </p:nvSpPr>
        <p:spPr>
          <a:xfrm>
            <a:off x="1170432" y="658368"/>
            <a:ext cx="731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Use Case: ANPR → CCTNS</a:t>
            </a:r>
            <a:endParaRPr/>
          </a:p>
        </p:txBody>
      </p:sp>
      <p:sp>
        <p:nvSpPr>
          <p:cNvPr id="291" name="Google Shape;291;p13"/>
          <p:cNvSpPr txBox="1"/>
          <p:nvPr/>
        </p:nvSpPr>
        <p:spPr>
          <a:xfrm>
            <a:off x="1170432" y="1097280"/>
            <a:ext cx="740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Number plates read at the edge and logged nationally — with instant watch-list response</a:t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457200" y="1322544"/>
            <a:ext cx="5852100" cy="2926200"/>
          </a:xfrm>
          <a:prstGeom prst="roundRect">
            <a:avLst>
              <a:gd fmla="val 16667" name="adj"/>
            </a:avLst>
          </a:prstGeom>
          <a:solidFill>
            <a:srgbClr val="EDEB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685800" y="1600200"/>
            <a:ext cx="914400" cy="7314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1920240" y="1572768"/>
            <a:ext cx="10974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023360" y="1572768"/>
            <a:ext cx="1005900" cy="5028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85800" y="3566160"/>
            <a:ext cx="822900" cy="6402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3931920" y="3611880"/>
            <a:ext cx="11886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2194560" y="3657600"/>
            <a:ext cx="9144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48640" y="2651760"/>
            <a:ext cx="5669400" cy="384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2880360" y="1554480"/>
            <a:ext cx="384000" cy="26517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13"/>
          <p:cNvCxnSpPr/>
          <p:nvPr/>
        </p:nvCxnSpPr>
        <p:spPr>
          <a:xfrm>
            <a:off x="1819656" y="2926080"/>
            <a:ext cx="841200" cy="0"/>
          </a:xfrm>
          <a:prstGeom prst="straightConnector1">
            <a:avLst/>
          </a:prstGeom>
          <a:noFill/>
          <a:ln cap="flat" cmpd="sng" w="22225">
            <a:solidFill>
              <a:srgbClr val="9A9792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02" name="Google Shape;302;p13"/>
          <p:cNvSpPr/>
          <p:nvPr/>
        </p:nvSpPr>
        <p:spPr>
          <a:xfrm>
            <a:off x="2121408" y="2807208"/>
            <a:ext cx="237600" cy="237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303" name="Google Shape;303;p13"/>
          <p:cNvCxnSpPr/>
          <p:nvPr/>
        </p:nvCxnSpPr>
        <p:spPr>
          <a:xfrm rot="10800000">
            <a:off x="3246120" y="2249544"/>
            <a:ext cx="0" cy="274200"/>
          </a:xfrm>
          <a:prstGeom prst="straightConnector1">
            <a:avLst/>
          </a:prstGeom>
          <a:noFill/>
          <a:ln cap="flat" cmpd="sng" w="22225">
            <a:solidFill>
              <a:srgbClr val="9A9792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04" name="Google Shape;304;p13"/>
          <p:cNvSpPr/>
          <p:nvPr/>
        </p:nvSpPr>
        <p:spPr>
          <a:xfrm>
            <a:off x="3127248" y="2267712"/>
            <a:ext cx="237600" cy="237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305" name="Google Shape;305;p13"/>
          <p:cNvCxnSpPr/>
          <p:nvPr/>
        </p:nvCxnSpPr>
        <p:spPr>
          <a:xfrm flipH="1" rot="10800000">
            <a:off x="3831039" y="1795892"/>
            <a:ext cx="841800" cy="38400"/>
          </a:xfrm>
          <a:prstGeom prst="straightConnector1">
            <a:avLst/>
          </a:prstGeom>
          <a:noFill/>
          <a:ln cap="flat" cmpd="sng" w="22225">
            <a:solidFill>
              <a:srgbClr val="9A9792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06" name="Google Shape;306;p13"/>
          <p:cNvSpPr/>
          <p:nvPr/>
        </p:nvSpPr>
        <p:spPr>
          <a:xfrm>
            <a:off x="4133088" y="1696212"/>
            <a:ext cx="237600" cy="237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307" name="Google Shape;307;p13"/>
          <p:cNvCxnSpPr/>
          <p:nvPr/>
        </p:nvCxnSpPr>
        <p:spPr>
          <a:xfrm>
            <a:off x="3805236" y="1965900"/>
            <a:ext cx="893400" cy="384300"/>
          </a:xfrm>
          <a:prstGeom prst="straightConnector1">
            <a:avLst/>
          </a:prstGeom>
          <a:noFill/>
          <a:ln cap="flat" cmpd="sng" w="22225">
            <a:solidFill>
              <a:srgbClr val="E6000C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308" name="Google Shape;308;p13"/>
          <p:cNvSpPr/>
          <p:nvPr/>
        </p:nvSpPr>
        <p:spPr>
          <a:xfrm>
            <a:off x="4133087" y="2039112"/>
            <a:ext cx="237600" cy="237600"/>
          </a:xfrm>
          <a:prstGeom prst="ellipse">
            <a:avLst/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descr="image.png" id="309" name="Google Shape;30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280" y="2633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3"/>
          <p:cNvSpPr txBox="1"/>
          <p:nvPr/>
        </p:nvSpPr>
        <p:spPr>
          <a:xfrm>
            <a:off x="685800" y="29352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CAMERA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1" name="Google Shape;311;p13"/>
          <p:cNvSpPr txBox="1"/>
          <p:nvPr/>
        </p:nvSpPr>
        <p:spPr>
          <a:xfrm>
            <a:off x="685800" y="31089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sees &amp; speaks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312" name="Google Shape;31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8960" y="2633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3"/>
          <p:cNvSpPr txBox="1"/>
          <p:nvPr/>
        </p:nvSpPr>
        <p:spPr>
          <a:xfrm>
            <a:off x="2697479" y="29352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2697479" y="31089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315" name="Google Shape;31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8960" y="155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3"/>
          <p:cNvSpPr txBox="1"/>
          <p:nvPr/>
        </p:nvSpPr>
        <p:spPr>
          <a:xfrm>
            <a:off x="2697479" y="1856231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ICCC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2697479" y="2029967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command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con_cctns.png" id="318" name="Google Shape;318;p13"/>
          <p:cNvPicPr preferRelativeResize="0"/>
          <p:nvPr/>
        </p:nvPicPr>
        <p:blipFill rotWithShape="1">
          <a:blip r:embed="rId8">
            <a:alphaModFix/>
          </a:blip>
          <a:srcRect b="-2010" l="2030" r="-2030" t="2010"/>
          <a:stretch/>
        </p:blipFill>
        <p:spPr>
          <a:xfrm>
            <a:off x="5120640" y="1490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 txBox="1"/>
          <p:nvPr/>
        </p:nvSpPr>
        <p:spPr>
          <a:xfrm>
            <a:off x="4709160" y="17922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CCTNS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4709160" y="19659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national DB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321" name="Google Shape;32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20640" y="237530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3"/>
          <p:cNvSpPr txBox="1"/>
          <p:nvPr/>
        </p:nvSpPr>
        <p:spPr>
          <a:xfrm>
            <a:off x="4709160" y="267705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3" name="Google Shape;323;p13"/>
          <p:cNvSpPr txBox="1"/>
          <p:nvPr/>
        </p:nvSpPr>
        <p:spPr>
          <a:xfrm>
            <a:off x="4709160" y="285079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responds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6446520" y="1417320"/>
            <a:ext cx="2240400" cy="29262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 txBox="1"/>
          <p:nvPr/>
        </p:nvSpPr>
        <p:spPr>
          <a:xfrm>
            <a:off x="6601968" y="1517904"/>
            <a:ext cx="192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HOW IT SOLVES</a:t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6601968" y="1847088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27" name="Google Shape;327;p13"/>
          <p:cNvSpPr txBox="1"/>
          <p:nvPr/>
        </p:nvSpPr>
        <p:spPr>
          <a:xfrm>
            <a:off x="6903720" y="1819656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Camera captures the plate and streams to the edge</a:t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6601968" y="2382012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29" name="Google Shape;329;p13"/>
          <p:cNvSpPr txBox="1"/>
          <p:nvPr/>
        </p:nvSpPr>
        <p:spPr>
          <a:xfrm>
            <a:off x="6903720" y="2354580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Edge reads the plate (ANPR) and passes it to the ICCC</a:t>
            </a:r>
            <a:endParaRPr/>
          </a:p>
        </p:txBody>
      </p:sp>
      <p:sp>
        <p:nvSpPr>
          <p:cNvPr id="330" name="Google Shape;330;p13"/>
          <p:cNvSpPr/>
          <p:nvPr/>
        </p:nvSpPr>
        <p:spPr>
          <a:xfrm>
            <a:off x="6601968" y="2916936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31" name="Google Shape;331;p13"/>
          <p:cNvSpPr txBox="1"/>
          <p:nvPr/>
        </p:nvSpPr>
        <p:spPr>
          <a:xfrm>
            <a:off x="6903720" y="2889504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ICCC auto-logs the event to the CCTNS national database</a:t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6601968" y="3451860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33" name="Google Shape;333;p13"/>
          <p:cNvSpPr txBox="1"/>
          <p:nvPr/>
        </p:nvSpPr>
        <p:spPr>
          <a:xfrm>
            <a:off x="6903720" y="3424428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On a watch-list hit, ICCC dispatches a drone / patrol to intercept</a:t>
            </a:r>
            <a:endParaRPr/>
          </a:p>
        </p:txBody>
      </p:sp>
      <p:sp>
        <p:nvSpPr>
          <p:cNvPr id="334" name="Google Shape;334;p13"/>
          <p:cNvSpPr txBox="1"/>
          <p:nvPr/>
        </p:nvSpPr>
        <p:spPr>
          <a:xfrm>
            <a:off x="6601968" y="4114800"/>
            <a:ext cx="2011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 data (up)   — command (down)</a:t>
            </a:r>
            <a:endParaRPr/>
          </a:p>
        </p:txBody>
      </p:sp>
      <p:sp>
        <p:nvSpPr>
          <p:cNvPr id="335" name="Google Shape;335;p13"/>
          <p:cNvSpPr txBox="1"/>
          <p:nvPr/>
        </p:nvSpPr>
        <p:spPr>
          <a:xfrm>
            <a:off x="457200" y="4443984"/>
            <a:ext cx="58521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Plates are read at the edge; only the result and evidence reach the ICCC and CCTNS.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"/>
          <p:cNvSpPr/>
          <p:nvPr/>
        </p:nvSpPr>
        <p:spPr>
          <a:xfrm>
            <a:off x="457200" y="640080"/>
            <a:ext cx="548700" cy="5487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41" name="Google Shape;34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784" y="7406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4"/>
          <p:cNvSpPr txBox="1"/>
          <p:nvPr/>
        </p:nvSpPr>
        <p:spPr>
          <a:xfrm>
            <a:off x="1170432" y="658368"/>
            <a:ext cx="731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Use Case: Intrusion &amp; Perimeter</a:t>
            </a:r>
            <a:endParaRPr/>
          </a:p>
        </p:txBody>
      </p:sp>
      <p:sp>
        <p:nvSpPr>
          <p:cNvPr id="343" name="Google Shape;343;p14"/>
          <p:cNvSpPr txBox="1"/>
          <p:nvPr/>
        </p:nvSpPr>
        <p:spPr>
          <a:xfrm>
            <a:off x="1170432" y="1097280"/>
            <a:ext cx="740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Line-crossing and loitering in restricted zones — caught, verified, and answered in seconds</a:t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457200" y="1417320"/>
            <a:ext cx="5852100" cy="2926200"/>
          </a:xfrm>
          <a:prstGeom prst="roundRect">
            <a:avLst>
              <a:gd fmla="val 16667" name="adj"/>
            </a:avLst>
          </a:prstGeom>
          <a:solidFill>
            <a:srgbClr val="EDEB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685800" y="1600200"/>
            <a:ext cx="914400" cy="7314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1920240" y="1572768"/>
            <a:ext cx="10974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023360" y="1572768"/>
            <a:ext cx="1005900" cy="5028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685800" y="3566160"/>
            <a:ext cx="822900" cy="6402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3931920" y="3611880"/>
            <a:ext cx="11886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2194560" y="3657600"/>
            <a:ext cx="9144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548640" y="2651760"/>
            <a:ext cx="5669400" cy="384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2880360" y="1554480"/>
            <a:ext cx="384000" cy="26517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4"/>
          <p:cNvCxnSpPr/>
          <p:nvPr/>
        </p:nvCxnSpPr>
        <p:spPr>
          <a:xfrm>
            <a:off x="1819656" y="2926080"/>
            <a:ext cx="841200" cy="0"/>
          </a:xfrm>
          <a:prstGeom prst="straightConnector1">
            <a:avLst/>
          </a:prstGeom>
          <a:noFill/>
          <a:ln cap="flat" cmpd="sng" w="22225">
            <a:solidFill>
              <a:srgbClr val="9A9792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54" name="Google Shape;354;p14"/>
          <p:cNvCxnSpPr/>
          <p:nvPr/>
        </p:nvCxnSpPr>
        <p:spPr>
          <a:xfrm rot="10800000">
            <a:off x="3056570" y="2249419"/>
            <a:ext cx="0" cy="274200"/>
          </a:xfrm>
          <a:prstGeom prst="straightConnector1">
            <a:avLst/>
          </a:prstGeom>
          <a:noFill/>
          <a:ln cap="flat" cmpd="sng" w="22225">
            <a:solidFill>
              <a:srgbClr val="9A9792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55" name="Google Shape;355;p14"/>
          <p:cNvCxnSpPr/>
          <p:nvPr/>
        </p:nvCxnSpPr>
        <p:spPr>
          <a:xfrm>
            <a:off x="3805236" y="1965900"/>
            <a:ext cx="893400" cy="384300"/>
          </a:xfrm>
          <a:prstGeom prst="straightConnector1">
            <a:avLst/>
          </a:prstGeom>
          <a:noFill/>
          <a:ln cap="flat" cmpd="sng" w="22225">
            <a:solidFill>
              <a:srgbClr val="E6000C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56" name="Google Shape;356;p14"/>
          <p:cNvCxnSpPr/>
          <p:nvPr/>
        </p:nvCxnSpPr>
        <p:spPr>
          <a:xfrm>
            <a:off x="3368795" y="2249424"/>
            <a:ext cx="0" cy="274200"/>
          </a:xfrm>
          <a:prstGeom prst="straightConnector1">
            <a:avLst/>
          </a:prstGeom>
          <a:noFill/>
          <a:ln cap="flat" cmpd="sng" w="22225">
            <a:solidFill>
              <a:srgbClr val="E6000C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357" name="Google Shape;357;p14"/>
          <p:cNvCxnSpPr/>
          <p:nvPr/>
        </p:nvCxnSpPr>
        <p:spPr>
          <a:xfrm rot="10800000">
            <a:off x="1819703" y="2926080"/>
            <a:ext cx="841200" cy="0"/>
          </a:xfrm>
          <a:prstGeom prst="straightConnector1">
            <a:avLst/>
          </a:prstGeom>
          <a:noFill/>
          <a:ln cap="flat" cmpd="sng" w="22225">
            <a:solidFill>
              <a:srgbClr val="E6000C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pic>
        <p:nvPicPr>
          <p:cNvPr descr="image.png" id="358" name="Google Shape;35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280" y="2633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4"/>
          <p:cNvSpPr txBox="1"/>
          <p:nvPr/>
        </p:nvSpPr>
        <p:spPr>
          <a:xfrm>
            <a:off x="685800" y="29352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CAMERA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0" name="Google Shape;360;p14"/>
          <p:cNvSpPr txBox="1"/>
          <p:nvPr/>
        </p:nvSpPr>
        <p:spPr>
          <a:xfrm>
            <a:off x="685800" y="31089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sees &amp; speaks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361" name="Google Shape;36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8960" y="2633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4"/>
          <p:cNvSpPr txBox="1"/>
          <p:nvPr/>
        </p:nvSpPr>
        <p:spPr>
          <a:xfrm>
            <a:off x="2697479" y="29352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3" name="Google Shape;363;p14"/>
          <p:cNvSpPr txBox="1"/>
          <p:nvPr/>
        </p:nvSpPr>
        <p:spPr>
          <a:xfrm>
            <a:off x="2697479" y="31089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364" name="Google Shape;36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8960" y="155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4"/>
          <p:cNvSpPr txBox="1"/>
          <p:nvPr/>
        </p:nvSpPr>
        <p:spPr>
          <a:xfrm>
            <a:off x="2697479" y="1856231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ICCC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6" name="Google Shape;366;p14"/>
          <p:cNvSpPr txBox="1"/>
          <p:nvPr/>
        </p:nvSpPr>
        <p:spPr>
          <a:xfrm>
            <a:off x="2697479" y="2029967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command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367" name="Google Shape;36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20640" y="21762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4"/>
          <p:cNvSpPr txBox="1"/>
          <p:nvPr/>
        </p:nvSpPr>
        <p:spPr>
          <a:xfrm>
            <a:off x="4709160" y="24780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9" name="Google Shape;369;p14"/>
          <p:cNvSpPr txBox="1"/>
          <p:nvPr/>
        </p:nvSpPr>
        <p:spPr>
          <a:xfrm>
            <a:off x="4709160" y="26517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responds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6446520" y="1417320"/>
            <a:ext cx="2240400" cy="29262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 txBox="1"/>
          <p:nvPr/>
        </p:nvSpPr>
        <p:spPr>
          <a:xfrm>
            <a:off x="6601968" y="1517904"/>
            <a:ext cx="192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HOW IT SOLVES</a:t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6601968" y="1847088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73" name="Google Shape;373;p14"/>
          <p:cNvSpPr txBox="1"/>
          <p:nvPr/>
        </p:nvSpPr>
        <p:spPr>
          <a:xfrm>
            <a:off x="6903720" y="1819656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Camera spots line-crossing or loitering and streams to the edge</a:t>
            </a:r>
            <a:endParaRPr/>
          </a:p>
        </p:txBody>
      </p:sp>
      <p:sp>
        <p:nvSpPr>
          <p:cNvPr id="374" name="Google Shape;374;p14"/>
          <p:cNvSpPr/>
          <p:nvPr/>
        </p:nvSpPr>
        <p:spPr>
          <a:xfrm>
            <a:off x="6601968" y="2382012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75" name="Google Shape;375;p14"/>
          <p:cNvSpPr txBox="1"/>
          <p:nvPr/>
        </p:nvSpPr>
        <p:spPr>
          <a:xfrm>
            <a:off x="6903720" y="2354580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Edge AI confirms the intrusion and alerts the ICCC</a:t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6601968" y="2916936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77" name="Google Shape;377;p14"/>
          <p:cNvSpPr txBox="1"/>
          <p:nvPr/>
        </p:nvSpPr>
        <p:spPr>
          <a:xfrm>
            <a:off x="6903720" y="2889504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ICCC dispatches the nearest drone for eyes-on</a:t>
            </a:r>
            <a:endParaRPr/>
          </a:p>
        </p:txBody>
      </p:sp>
      <p:sp>
        <p:nvSpPr>
          <p:cNvPr id="378" name="Google Shape;378;p14"/>
          <p:cNvSpPr/>
          <p:nvPr/>
        </p:nvSpPr>
        <p:spPr>
          <a:xfrm>
            <a:off x="6601968" y="3451860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79" name="Google Shape;379;p14"/>
          <p:cNvSpPr txBox="1"/>
          <p:nvPr/>
        </p:nvSpPr>
        <p:spPr>
          <a:xfrm>
            <a:off x="6903720" y="3424428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ICCC triggers talk-down — via the edge to the camera speaker</a:t>
            </a:r>
            <a:endParaRPr/>
          </a:p>
        </p:txBody>
      </p:sp>
      <p:sp>
        <p:nvSpPr>
          <p:cNvPr id="380" name="Google Shape;380;p14"/>
          <p:cNvSpPr txBox="1"/>
          <p:nvPr/>
        </p:nvSpPr>
        <p:spPr>
          <a:xfrm>
            <a:off x="6601968" y="4114800"/>
            <a:ext cx="2011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 data (up)   — command (down)</a:t>
            </a:r>
            <a:endParaRPr/>
          </a:p>
        </p:txBody>
      </p:sp>
      <p:sp>
        <p:nvSpPr>
          <p:cNvPr id="381" name="Google Shape;381;p14"/>
          <p:cNvSpPr txBox="1"/>
          <p:nvPr/>
        </p:nvSpPr>
        <p:spPr>
          <a:xfrm>
            <a:off x="457200" y="4443984"/>
            <a:ext cx="58521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Cameras talk only to the edge; the ICCC commands through the edge — never straight to a camera.</a:t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2130531" y="2816263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2741868" y="2290712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84" name="Google Shape;384;p14"/>
          <p:cNvSpPr/>
          <p:nvPr/>
        </p:nvSpPr>
        <p:spPr>
          <a:xfrm>
            <a:off x="4142206" y="2029986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85" name="Google Shape;385;p14"/>
          <p:cNvSpPr/>
          <p:nvPr/>
        </p:nvSpPr>
        <p:spPr>
          <a:xfrm>
            <a:off x="3443549" y="2276735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5"/>
          <p:cNvSpPr/>
          <p:nvPr/>
        </p:nvSpPr>
        <p:spPr>
          <a:xfrm>
            <a:off x="457200" y="640080"/>
            <a:ext cx="548700" cy="5487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91" name="Google Shape;39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784" y="7406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5"/>
          <p:cNvSpPr txBox="1"/>
          <p:nvPr/>
        </p:nvSpPr>
        <p:spPr>
          <a:xfrm>
            <a:off x="1170432" y="658368"/>
            <a:ext cx="731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Use Case: Fire &amp; Smoke</a:t>
            </a:r>
            <a:endParaRPr/>
          </a:p>
        </p:txBody>
      </p:sp>
      <p:sp>
        <p:nvSpPr>
          <p:cNvPr id="393" name="Google Shape;393;p15"/>
          <p:cNvSpPr txBox="1"/>
          <p:nvPr/>
        </p:nvSpPr>
        <p:spPr>
          <a:xfrm>
            <a:off x="1170432" y="1097280"/>
            <a:ext cx="740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Fire and smoke detected from video alone — no extra sensors, no waiting</a:t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457200" y="1417320"/>
            <a:ext cx="5852100" cy="2926200"/>
          </a:xfrm>
          <a:prstGeom prst="roundRect">
            <a:avLst>
              <a:gd fmla="val 16667" name="adj"/>
            </a:avLst>
          </a:prstGeom>
          <a:solidFill>
            <a:srgbClr val="EDEB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685800" y="1600200"/>
            <a:ext cx="914400" cy="7314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1920240" y="1572768"/>
            <a:ext cx="10974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4023360" y="1572768"/>
            <a:ext cx="1005900" cy="5028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685800" y="3566160"/>
            <a:ext cx="822900" cy="6402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3931920" y="3611880"/>
            <a:ext cx="11886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2194560" y="3657600"/>
            <a:ext cx="9144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548640" y="2651760"/>
            <a:ext cx="5669400" cy="384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2880360" y="1554480"/>
            <a:ext cx="384000" cy="26517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03;p15"/>
          <p:cNvCxnSpPr/>
          <p:nvPr/>
        </p:nvCxnSpPr>
        <p:spPr>
          <a:xfrm>
            <a:off x="1819656" y="2926080"/>
            <a:ext cx="841200" cy="0"/>
          </a:xfrm>
          <a:prstGeom prst="straightConnector1">
            <a:avLst/>
          </a:prstGeom>
          <a:noFill/>
          <a:ln cap="flat" cmpd="sng" w="22225">
            <a:solidFill>
              <a:srgbClr val="9A9792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04" name="Google Shape;404;p15"/>
          <p:cNvSpPr/>
          <p:nvPr/>
        </p:nvSpPr>
        <p:spPr>
          <a:xfrm>
            <a:off x="2121408" y="2807208"/>
            <a:ext cx="237600" cy="237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405" name="Google Shape;405;p15"/>
          <p:cNvCxnSpPr/>
          <p:nvPr/>
        </p:nvCxnSpPr>
        <p:spPr>
          <a:xfrm rot="10800000">
            <a:off x="3246120" y="2249544"/>
            <a:ext cx="0" cy="274200"/>
          </a:xfrm>
          <a:prstGeom prst="straightConnector1">
            <a:avLst/>
          </a:prstGeom>
          <a:noFill/>
          <a:ln cap="flat" cmpd="sng" w="22225">
            <a:solidFill>
              <a:srgbClr val="9A9792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06" name="Google Shape;406;p15"/>
          <p:cNvSpPr/>
          <p:nvPr/>
        </p:nvSpPr>
        <p:spPr>
          <a:xfrm>
            <a:off x="2935363" y="2332543"/>
            <a:ext cx="219600" cy="1770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407" name="Google Shape;407;p15"/>
          <p:cNvCxnSpPr/>
          <p:nvPr/>
        </p:nvCxnSpPr>
        <p:spPr>
          <a:xfrm>
            <a:off x="3805236" y="1965900"/>
            <a:ext cx="893400" cy="384300"/>
          </a:xfrm>
          <a:prstGeom prst="straightConnector1">
            <a:avLst/>
          </a:prstGeom>
          <a:noFill/>
          <a:ln cap="flat" cmpd="sng" w="22225">
            <a:solidFill>
              <a:srgbClr val="E6000C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08" name="Google Shape;408;p15"/>
          <p:cNvSpPr/>
          <p:nvPr/>
        </p:nvSpPr>
        <p:spPr>
          <a:xfrm>
            <a:off x="4133087" y="2039112"/>
            <a:ext cx="237600" cy="237600"/>
          </a:xfrm>
          <a:prstGeom prst="ellipse">
            <a:avLst/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409" name="Google Shape;409;p15"/>
          <p:cNvCxnSpPr/>
          <p:nvPr/>
        </p:nvCxnSpPr>
        <p:spPr>
          <a:xfrm>
            <a:off x="3440520" y="2249424"/>
            <a:ext cx="0" cy="274200"/>
          </a:xfrm>
          <a:prstGeom prst="straightConnector1">
            <a:avLst/>
          </a:prstGeom>
          <a:noFill/>
          <a:ln cap="flat" cmpd="sng" w="22225">
            <a:solidFill>
              <a:srgbClr val="E6000C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10" name="Google Shape;410;p15"/>
          <p:cNvSpPr/>
          <p:nvPr/>
        </p:nvSpPr>
        <p:spPr>
          <a:xfrm>
            <a:off x="3505809" y="2335743"/>
            <a:ext cx="163200" cy="161700"/>
          </a:xfrm>
          <a:prstGeom prst="ellipse">
            <a:avLst/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411" name="Google Shape;411;p15"/>
          <p:cNvCxnSpPr/>
          <p:nvPr/>
        </p:nvCxnSpPr>
        <p:spPr>
          <a:xfrm rot="10800000">
            <a:off x="1819703" y="2926080"/>
            <a:ext cx="841200" cy="0"/>
          </a:xfrm>
          <a:prstGeom prst="straightConnector1">
            <a:avLst/>
          </a:prstGeom>
          <a:noFill/>
          <a:ln cap="flat" cmpd="sng" w="22225">
            <a:solidFill>
              <a:srgbClr val="E6000C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pic>
        <p:nvPicPr>
          <p:cNvPr descr="image.png" id="412" name="Google Shape;4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280" y="2633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15"/>
          <p:cNvSpPr txBox="1"/>
          <p:nvPr/>
        </p:nvSpPr>
        <p:spPr>
          <a:xfrm>
            <a:off x="685800" y="29352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CAMERA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4" name="Google Shape;414;p15"/>
          <p:cNvSpPr txBox="1"/>
          <p:nvPr/>
        </p:nvSpPr>
        <p:spPr>
          <a:xfrm>
            <a:off x="685800" y="31089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sees &amp; speaks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415" name="Google Shape;4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8960" y="2633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5"/>
          <p:cNvSpPr txBox="1"/>
          <p:nvPr/>
        </p:nvSpPr>
        <p:spPr>
          <a:xfrm>
            <a:off x="2697479" y="29352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7" name="Google Shape;417;p15"/>
          <p:cNvSpPr txBox="1"/>
          <p:nvPr/>
        </p:nvSpPr>
        <p:spPr>
          <a:xfrm>
            <a:off x="2697479" y="31089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418" name="Google Shape;4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8960" y="155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5"/>
          <p:cNvSpPr txBox="1"/>
          <p:nvPr/>
        </p:nvSpPr>
        <p:spPr>
          <a:xfrm>
            <a:off x="2697479" y="1856231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ICCC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2697479" y="2029967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command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421" name="Google Shape;42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20640" y="21762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5"/>
          <p:cNvSpPr txBox="1"/>
          <p:nvPr/>
        </p:nvSpPr>
        <p:spPr>
          <a:xfrm>
            <a:off x="4709160" y="24780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4709160" y="26517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responds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6446520" y="1417320"/>
            <a:ext cx="2240400" cy="29262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6601968" y="1517904"/>
            <a:ext cx="192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HOW IT SOLVES</a:t>
            </a: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6601968" y="1847088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27" name="Google Shape;427;p15"/>
          <p:cNvSpPr txBox="1"/>
          <p:nvPr/>
        </p:nvSpPr>
        <p:spPr>
          <a:xfrm>
            <a:off x="6903720" y="1819656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Camera picks up a smoke or flame signature and streams to the edge</a:t>
            </a: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6601968" y="2382012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29" name="Google Shape;429;p15"/>
          <p:cNvSpPr txBox="1"/>
          <p:nvPr/>
        </p:nvSpPr>
        <p:spPr>
          <a:xfrm>
            <a:off x="6903720" y="2354580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Edge AI classifies the fire and alerts the ICCC</a:t>
            </a: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6601968" y="2916936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31" name="Google Shape;431;p15"/>
          <p:cNvSpPr txBox="1"/>
          <p:nvPr/>
        </p:nvSpPr>
        <p:spPr>
          <a:xfrm>
            <a:off x="6903720" y="2889504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ICCC dispatches a drone for aerial mapping + responders</a:t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6601968" y="3451860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33" name="Google Shape;433;p15"/>
          <p:cNvSpPr txBox="1"/>
          <p:nvPr/>
        </p:nvSpPr>
        <p:spPr>
          <a:xfrm>
            <a:off x="6903720" y="3424428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ICCC broadcasts an evacuation message via camera speakers</a:t>
            </a:r>
            <a:endParaRPr/>
          </a:p>
        </p:txBody>
      </p:sp>
      <p:sp>
        <p:nvSpPr>
          <p:cNvPr id="434" name="Google Shape;434;p15"/>
          <p:cNvSpPr txBox="1"/>
          <p:nvPr/>
        </p:nvSpPr>
        <p:spPr>
          <a:xfrm>
            <a:off x="6601968" y="4114800"/>
            <a:ext cx="2011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 data (up)   — command (down)</a:t>
            </a:r>
            <a:endParaRPr/>
          </a:p>
        </p:txBody>
      </p:sp>
      <p:sp>
        <p:nvSpPr>
          <p:cNvPr id="435" name="Google Shape;435;p15"/>
          <p:cNvSpPr txBox="1"/>
          <p:nvPr/>
        </p:nvSpPr>
        <p:spPr>
          <a:xfrm>
            <a:off x="457200" y="4443984"/>
            <a:ext cx="58521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Detection happens on-site at the edge; the ICCC coordinates the response.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6"/>
          <p:cNvSpPr/>
          <p:nvPr/>
        </p:nvSpPr>
        <p:spPr>
          <a:xfrm>
            <a:off x="457200" y="640080"/>
            <a:ext cx="548700" cy="5487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41" name="Google Shape;4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7784" y="74066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6"/>
          <p:cNvSpPr txBox="1"/>
          <p:nvPr/>
        </p:nvSpPr>
        <p:spPr>
          <a:xfrm>
            <a:off x="1170432" y="658368"/>
            <a:ext cx="731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Use Case: Citizen SOS</a:t>
            </a:r>
            <a:endParaRPr/>
          </a:p>
        </p:txBody>
      </p:sp>
      <p:sp>
        <p:nvSpPr>
          <p:cNvPr id="443" name="Google Shape;443;p16"/>
          <p:cNvSpPr txBox="1"/>
          <p:nvPr/>
        </p:nvSpPr>
        <p:spPr>
          <a:xfrm>
            <a:off x="1170432" y="1097280"/>
            <a:ext cx="74067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A safety-band SOS reaches command directly — then every system converges on the citizen</a:t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457200" y="1417320"/>
            <a:ext cx="5852100" cy="2926200"/>
          </a:xfrm>
          <a:prstGeom prst="roundRect">
            <a:avLst>
              <a:gd fmla="val 16667" name="adj"/>
            </a:avLst>
          </a:prstGeom>
          <a:solidFill>
            <a:srgbClr val="EDEB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685800" y="1600200"/>
            <a:ext cx="914400" cy="7314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1920240" y="1572768"/>
            <a:ext cx="10974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4023360" y="1572768"/>
            <a:ext cx="1005900" cy="5028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685800" y="3566160"/>
            <a:ext cx="822900" cy="6402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3931920" y="3611880"/>
            <a:ext cx="11886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2194560" y="3657600"/>
            <a:ext cx="914400" cy="548700"/>
          </a:xfrm>
          <a:prstGeom prst="roundRect">
            <a:avLst>
              <a:gd fmla="val 16667" name="adj"/>
            </a:avLst>
          </a:prstGeom>
          <a:solidFill>
            <a:srgbClr val="E1DE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548640" y="2651760"/>
            <a:ext cx="5669400" cy="3840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2880360" y="1554480"/>
            <a:ext cx="384000" cy="2651700"/>
          </a:xfrm>
          <a:prstGeom prst="rect">
            <a:avLst/>
          </a:prstGeom>
          <a:solidFill>
            <a:srgbClr val="F6F5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16"/>
          <p:cNvCxnSpPr/>
          <p:nvPr/>
        </p:nvCxnSpPr>
        <p:spPr>
          <a:xfrm flipH="1" rot="10800000">
            <a:off x="1767656" y="2143402"/>
            <a:ext cx="1082400" cy="1446600"/>
          </a:xfrm>
          <a:prstGeom prst="straightConnector1">
            <a:avLst/>
          </a:prstGeom>
          <a:noFill/>
          <a:ln cap="flat" cmpd="sng" w="22225">
            <a:solidFill>
              <a:srgbClr val="9A9792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54" name="Google Shape;454;p16"/>
          <p:cNvSpPr/>
          <p:nvPr/>
        </p:nvSpPr>
        <p:spPr>
          <a:xfrm>
            <a:off x="2395851" y="2505297"/>
            <a:ext cx="237600" cy="237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455" name="Google Shape;455;p16"/>
          <p:cNvCxnSpPr/>
          <p:nvPr/>
        </p:nvCxnSpPr>
        <p:spPr>
          <a:xfrm>
            <a:off x="3246120" y="2249424"/>
            <a:ext cx="0" cy="274200"/>
          </a:xfrm>
          <a:prstGeom prst="straightConnector1">
            <a:avLst/>
          </a:prstGeom>
          <a:noFill/>
          <a:ln cap="flat" cmpd="sng" w="22225">
            <a:solidFill>
              <a:srgbClr val="E6000C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56" name="Google Shape;456;p16"/>
          <p:cNvSpPr/>
          <p:nvPr/>
        </p:nvSpPr>
        <p:spPr>
          <a:xfrm>
            <a:off x="3127248" y="2267712"/>
            <a:ext cx="237600" cy="237600"/>
          </a:xfrm>
          <a:prstGeom prst="ellipse">
            <a:avLst/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457" name="Google Shape;457;p16"/>
          <p:cNvCxnSpPr/>
          <p:nvPr/>
        </p:nvCxnSpPr>
        <p:spPr>
          <a:xfrm rot="10800000">
            <a:off x="1819703" y="2926080"/>
            <a:ext cx="841200" cy="0"/>
          </a:xfrm>
          <a:prstGeom prst="straightConnector1">
            <a:avLst/>
          </a:prstGeom>
          <a:noFill/>
          <a:ln cap="flat" cmpd="sng" w="22225">
            <a:solidFill>
              <a:srgbClr val="E6000C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cxnSp>
        <p:nvCxnSpPr>
          <p:cNvPr id="458" name="Google Shape;458;p16"/>
          <p:cNvCxnSpPr/>
          <p:nvPr/>
        </p:nvCxnSpPr>
        <p:spPr>
          <a:xfrm>
            <a:off x="3805236" y="1965900"/>
            <a:ext cx="893400" cy="384300"/>
          </a:xfrm>
          <a:prstGeom prst="straightConnector1">
            <a:avLst/>
          </a:prstGeom>
          <a:noFill/>
          <a:ln cap="flat" cmpd="sng" w="22225">
            <a:solidFill>
              <a:srgbClr val="E6000C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40"/>
              </a:srgbClr>
            </a:outerShdw>
          </a:effectLst>
        </p:spPr>
      </p:cxnSp>
      <p:sp>
        <p:nvSpPr>
          <p:cNvPr id="459" name="Google Shape;459;p16"/>
          <p:cNvSpPr/>
          <p:nvPr/>
        </p:nvSpPr>
        <p:spPr>
          <a:xfrm>
            <a:off x="4133087" y="2039112"/>
            <a:ext cx="237600" cy="237600"/>
          </a:xfrm>
          <a:prstGeom prst="ellipse">
            <a:avLst/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60" name="Google Shape;460;p16"/>
          <p:cNvSpPr txBox="1"/>
          <p:nvPr/>
        </p:nvSpPr>
        <p:spPr>
          <a:xfrm>
            <a:off x="822960" y="389534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SAFETY BAND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1" name="Google Shape;461;p16"/>
          <p:cNvSpPr txBox="1"/>
          <p:nvPr/>
        </p:nvSpPr>
        <p:spPr>
          <a:xfrm>
            <a:off x="822960" y="406908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citizen SOS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462" name="Google Shape;46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08960" y="1554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6"/>
          <p:cNvSpPr txBox="1"/>
          <p:nvPr/>
        </p:nvSpPr>
        <p:spPr>
          <a:xfrm>
            <a:off x="2697479" y="1856231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ICCC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4" name="Google Shape;464;p16"/>
          <p:cNvSpPr txBox="1"/>
          <p:nvPr/>
        </p:nvSpPr>
        <p:spPr>
          <a:xfrm>
            <a:off x="2697479" y="2029967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command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465" name="Google Shape;46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08960" y="2633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6"/>
          <p:cNvSpPr txBox="1"/>
          <p:nvPr/>
        </p:nvSpPr>
        <p:spPr>
          <a:xfrm>
            <a:off x="2697479" y="29352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7" name="Google Shape;467;p16"/>
          <p:cNvSpPr txBox="1"/>
          <p:nvPr/>
        </p:nvSpPr>
        <p:spPr>
          <a:xfrm>
            <a:off x="2697479" y="31089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processes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468" name="Google Shape;46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7280" y="26334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16"/>
          <p:cNvSpPr txBox="1"/>
          <p:nvPr/>
        </p:nvSpPr>
        <p:spPr>
          <a:xfrm>
            <a:off x="685800" y="29352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CAMERA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0" name="Google Shape;470;p16"/>
          <p:cNvSpPr txBox="1"/>
          <p:nvPr/>
        </p:nvSpPr>
        <p:spPr>
          <a:xfrm>
            <a:off x="685800" y="31089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sees &amp; speaks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471" name="Google Shape;47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20640" y="217627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6"/>
          <p:cNvSpPr txBox="1"/>
          <p:nvPr/>
        </p:nvSpPr>
        <p:spPr>
          <a:xfrm>
            <a:off x="4709160" y="2478024"/>
            <a:ext cx="1097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DRONE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3" name="Google Shape;473;p16"/>
          <p:cNvSpPr txBox="1"/>
          <p:nvPr/>
        </p:nvSpPr>
        <p:spPr>
          <a:xfrm>
            <a:off x="4709160" y="2651760"/>
            <a:ext cx="10974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responds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6446520" y="1417320"/>
            <a:ext cx="2240400" cy="29262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601968" y="1517904"/>
            <a:ext cx="1920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HOW IT SOLVES</a:t>
            </a:r>
            <a:endParaRPr/>
          </a:p>
        </p:txBody>
      </p:sp>
      <p:sp>
        <p:nvSpPr>
          <p:cNvPr id="476" name="Google Shape;476;p16"/>
          <p:cNvSpPr/>
          <p:nvPr/>
        </p:nvSpPr>
        <p:spPr>
          <a:xfrm>
            <a:off x="6601968" y="1847088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77" name="Google Shape;477;p16"/>
          <p:cNvSpPr txBox="1"/>
          <p:nvPr/>
        </p:nvSpPr>
        <p:spPr>
          <a:xfrm>
            <a:off x="6903720" y="1819656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Citizen presses the safety band — SOS + GPS goes direct to the ICCC</a:t>
            </a:r>
            <a:endParaRPr/>
          </a:p>
        </p:txBody>
      </p:sp>
      <p:sp>
        <p:nvSpPr>
          <p:cNvPr id="478" name="Google Shape;478;p16"/>
          <p:cNvSpPr/>
          <p:nvPr/>
        </p:nvSpPr>
        <p:spPr>
          <a:xfrm>
            <a:off x="6601968" y="2382012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79" name="Google Shape;479;p16"/>
          <p:cNvSpPr txBox="1"/>
          <p:nvPr/>
        </p:nvSpPr>
        <p:spPr>
          <a:xfrm>
            <a:off x="6903720" y="2354580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ICCC pulls the nearest camera view — via the edge</a:t>
            </a:r>
            <a:endParaRPr/>
          </a:p>
        </p:txBody>
      </p:sp>
      <p:sp>
        <p:nvSpPr>
          <p:cNvPr id="480" name="Google Shape;480;p16"/>
          <p:cNvSpPr/>
          <p:nvPr/>
        </p:nvSpPr>
        <p:spPr>
          <a:xfrm>
            <a:off x="6601968" y="2916936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481" name="Google Shape;481;p16"/>
          <p:cNvSpPr txBox="1"/>
          <p:nvPr/>
        </p:nvSpPr>
        <p:spPr>
          <a:xfrm>
            <a:off x="6903720" y="2889504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ICCC dispatches a drone and responder to the GPS location</a:t>
            </a:r>
            <a:endParaRPr/>
          </a:p>
        </p:txBody>
      </p:sp>
      <p:sp>
        <p:nvSpPr>
          <p:cNvPr id="482" name="Google Shape;482;p16"/>
          <p:cNvSpPr/>
          <p:nvPr/>
        </p:nvSpPr>
        <p:spPr>
          <a:xfrm>
            <a:off x="6601968" y="3451860"/>
            <a:ext cx="219600" cy="219600"/>
          </a:xfrm>
          <a:prstGeom prst="ellipse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483" name="Google Shape;483;p16"/>
          <p:cNvSpPr txBox="1"/>
          <p:nvPr/>
        </p:nvSpPr>
        <p:spPr>
          <a:xfrm>
            <a:off x="6903720" y="3424428"/>
            <a:ext cx="1737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ICCC opens talk-down / guidance through the camera speaker</a:t>
            </a:r>
            <a:endParaRPr/>
          </a:p>
        </p:txBody>
      </p:sp>
      <p:sp>
        <p:nvSpPr>
          <p:cNvPr id="484" name="Google Shape;484;p16"/>
          <p:cNvSpPr txBox="1"/>
          <p:nvPr/>
        </p:nvSpPr>
        <p:spPr>
          <a:xfrm>
            <a:off x="6601968" y="4114800"/>
            <a:ext cx="2011800" cy="1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3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— data (up)   — command (down)</a:t>
            </a:r>
            <a:endParaRPr/>
          </a:p>
        </p:txBody>
      </p:sp>
      <p:sp>
        <p:nvSpPr>
          <p:cNvPr id="485" name="Google Shape;485;p16"/>
          <p:cNvSpPr txBox="1"/>
          <p:nvPr/>
        </p:nvSpPr>
        <p:spPr>
          <a:xfrm>
            <a:off x="457200" y="4443984"/>
            <a:ext cx="58521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700" spcFirstLastPara="1" rIns="1270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6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The safety band is the only device that talks to the ICCC directly; cameras stay behind the edge.</a:t>
            </a:r>
            <a:endParaRPr/>
          </a:p>
        </p:txBody>
      </p:sp>
      <p:pic>
        <p:nvPicPr>
          <p:cNvPr id="486" name="Google Shape;486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61850" y="3584425"/>
            <a:ext cx="219600" cy="27432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6"/>
          <p:cNvSpPr/>
          <p:nvPr/>
        </p:nvSpPr>
        <p:spPr>
          <a:xfrm>
            <a:off x="1426625" y="3702650"/>
            <a:ext cx="82200" cy="71100"/>
          </a:xfrm>
          <a:prstGeom prst="ellipse">
            <a:avLst/>
          </a:prstGeom>
          <a:solidFill>
            <a:srgbClr val="E600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2291087" y="2825387"/>
            <a:ext cx="237600" cy="237600"/>
          </a:xfrm>
          <a:prstGeom prst="ellipse">
            <a:avLst/>
          </a:prstGeom>
          <a:solidFill>
            <a:srgbClr val="E6000C"/>
          </a:solidFill>
          <a:ln>
            <a:noFill/>
          </a:ln>
        </p:spPr>
        <p:txBody>
          <a:bodyPr anchorCtr="0" anchor="ctr" bIns="0" lIns="12700" spcFirstLastPara="1" rIns="12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"/>
          <p:cNvSpPr/>
          <p:nvPr/>
        </p:nvSpPr>
        <p:spPr>
          <a:xfrm>
            <a:off x="457200" y="658368"/>
            <a:ext cx="822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Designed to Meet, Measured by SLA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7"/>
          <p:cNvSpPr/>
          <p:nvPr/>
        </p:nvSpPr>
        <p:spPr>
          <a:xfrm>
            <a:off x="457200" y="1097280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Standards alignment stated honestly — certification finalises with procured hardware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457200" y="1463040"/>
            <a:ext cx="3977700" cy="2880300"/>
          </a:xfrm>
          <a:prstGeom prst="roundRect">
            <a:avLst>
              <a:gd fmla="val 3175" name="adj"/>
            </a:avLst>
          </a:prstGeom>
          <a:solidFill>
            <a:srgbClr val="F4F4F4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685800" y="1572768"/>
            <a:ext cx="356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DESIGNED TO MEET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7"/>
          <p:cNvSpPr/>
          <p:nvPr/>
        </p:nvSpPr>
        <p:spPr>
          <a:xfrm>
            <a:off x="685800" y="1901952"/>
            <a:ext cx="329100" cy="3291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99" name="Google Shape;4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388" y="1987540"/>
            <a:ext cx="158008" cy="158008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17"/>
          <p:cNvSpPr/>
          <p:nvPr/>
        </p:nvSpPr>
        <p:spPr>
          <a:xfrm>
            <a:off x="1133856" y="1901952"/>
            <a:ext cx="3200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IMAF 2.0 (MoHUA) — ten-pillar ICCC framework · ISO 37122 indicators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7"/>
          <p:cNvSpPr/>
          <p:nvPr/>
        </p:nvSpPr>
        <p:spPr>
          <a:xfrm>
            <a:off x="685800" y="2377440"/>
            <a:ext cx="329100" cy="3291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2" name="Google Shape;50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388" y="2463028"/>
            <a:ext cx="158008" cy="158008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7"/>
          <p:cNvSpPr/>
          <p:nvPr/>
        </p:nvSpPr>
        <p:spPr>
          <a:xfrm>
            <a:off x="1133856" y="2377440"/>
            <a:ext cx="3200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DPDP Act 2023 — auto-blur, 90-day lifecycle, role-based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7"/>
          <p:cNvSpPr/>
          <p:nvPr/>
        </p:nvSpPr>
        <p:spPr>
          <a:xfrm>
            <a:off x="685800" y="2852928"/>
            <a:ext cx="329100" cy="3291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5" name="Google Shape;50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388" y="2938516"/>
            <a:ext cx="158008" cy="158008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7"/>
          <p:cNvSpPr/>
          <p:nvPr/>
        </p:nvSpPr>
        <p:spPr>
          <a:xfrm>
            <a:off x="1133856" y="2852928"/>
            <a:ext cx="3200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CCTNS integration (MHA) — auto-logged alert events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7"/>
          <p:cNvSpPr/>
          <p:nvPr/>
        </p:nvSpPr>
        <p:spPr>
          <a:xfrm>
            <a:off x="685800" y="3328416"/>
            <a:ext cx="329100" cy="3291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08" name="Google Shape;50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388" y="3414004"/>
            <a:ext cx="158008" cy="158008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7"/>
          <p:cNvSpPr/>
          <p:nvPr/>
        </p:nvSpPr>
        <p:spPr>
          <a:xfrm>
            <a:off x="1133856" y="3328416"/>
            <a:ext cx="3200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Trusted, security-vetted hardware throughout — procurement-compliant by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685800" y="3803904"/>
            <a:ext cx="329100" cy="329100"/>
          </a:xfrm>
          <a:prstGeom prst="ellipse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11" name="Google Shape;51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388" y="3889492"/>
            <a:ext cx="158008" cy="158008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17"/>
          <p:cNvSpPr/>
          <p:nvPr/>
        </p:nvSpPr>
        <p:spPr>
          <a:xfrm>
            <a:off x="1133856" y="3803904"/>
            <a:ext cx="3200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DGCA Drone Rules 2021 · Digital Sky NPNT · BVLOS pathway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7"/>
          <p:cNvSpPr/>
          <p:nvPr/>
        </p:nvSpPr>
        <p:spPr>
          <a:xfrm>
            <a:off x="4709160" y="1463040"/>
            <a:ext cx="3977700" cy="658500"/>
          </a:xfrm>
          <a:prstGeom prst="roundRect">
            <a:avLst>
              <a:gd fmla="val 11111" name="adj"/>
            </a:avLst>
          </a:prstGeom>
          <a:solidFill>
            <a:srgbClr val="EAEAEA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7"/>
          <p:cNvSpPr/>
          <p:nvPr/>
        </p:nvSpPr>
        <p:spPr>
          <a:xfrm>
            <a:off x="4892040" y="1463040"/>
            <a:ext cx="1188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&lt;5 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6172200" y="1463040"/>
            <a:ext cx="242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edge alert to ICCC operator display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4709160" y="2212848"/>
            <a:ext cx="3977700" cy="658500"/>
          </a:xfrm>
          <a:prstGeom prst="roundRect">
            <a:avLst>
              <a:gd fmla="val 11111" name="adj"/>
            </a:avLst>
          </a:prstGeom>
          <a:solidFill>
            <a:srgbClr val="2A2A2A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4892040" y="2212848"/>
            <a:ext cx="1188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5A63"/>
                </a:solidFill>
                <a:latin typeface="Arial"/>
                <a:ea typeface="Arial"/>
                <a:cs typeface="Arial"/>
                <a:sym typeface="Arial"/>
              </a:rPr>
              <a:t>&lt;100 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7"/>
          <p:cNvSpPr/>
          <p:nvPr/>
        </p:nvSpPr>
        <p:spPr>
          <a:xfrm>
            <a:off x="6172200" y="2212848"/>
            <a:ext cx="242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camera frame to alert event at the edge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7"/>
          <p:cNvSpPr/>
          <p:nvPr/>
        </p:nvSpPr>
        <p:spPr>
          <a:xfrm>
            <a:off x="4709160" y="2962656"/>
            <a:ext cx="3977700" cy="658500"/>
          </a:xfrm>
          <a:prstGeom prst="roundRect">
            <a:avLst>
              <a:gd fmla="val 11111" name="adj"/>
            </a:avLst>
          </a:prstGeom>
          <a:solidFill>
            <a:srgbClr val="EAEAEA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4892040" y="2962656"/>
            <a:ext cx="1188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0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6000C"/>
                </a:solidFill>
                <a:latin typeface="Arial"/>
                <a:ea typeface="Arial"/>
                <a:cs typeface="Arial"/>
                <a:sym typeface="Arial"/>
              </a:rPr>
              <a:t>≤60 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6172200" y="2962656"/>
            <a:ext cx="242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drone reaches target location after ICCC command (validated)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4709160" y="3712464"/>
            <a:ext cx="3977700" cy="658500"/>
          </a:xfrm>
          <a:prstGeom prst="roundRect">
            <a:avLst>
              <a:gd fmla="val 11111" name="adj"/>
            </a:avLst>
          </a:prstGeom>
          <a:solidFill>
            <a:srgbClr val="2A2A2A"/>
          </a:solidFill>
          <a:ln>
            <a:noFill/>
          </a:ln>
          <a:effectLst>
            <a:outerShdw blurRad="76200" rotWithShape="0" algn="bl" dir="2700000" dist="254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4892040" y="3712464"/>
            <a:ext cx="1188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6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5A63"/>
                </a:solidFill>
                <a:latin typeface="Arial"/>
                <a:ea typeface="Arial"/>
                <a:cs typeface="Arial"/>
                <a:sym typeface="Arial"/>
              </a:rPr>
              <a:t>24×7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7"/>
          <p:cNvSpPr/>
          <p:nvPr/>
        </p:nvSpPr>
        <p:spPr>
          <a:xfrm>
            <a:off x="6172200" y="3712464"/>
            <a:ext cx="2423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dock readiness · 90-day archival · N+1 uptime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/>
          <p:nvPr/>
        </p:nvSpPr>
        <p:spPr>
          <a:xfrm>
            <a:off x="457200" y="4498848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Every SLA above is contractual language, not marketing — sourced from the PRD's response benchmarks.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