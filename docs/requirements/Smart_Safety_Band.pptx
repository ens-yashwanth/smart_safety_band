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4.png" ContentType="image/png"/>
  <Override PartName="/ppt/media/image3.png" ContentType="image/png"/>
  <Override PartName="/ppt/media/image5.png" ContentType="image/png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F0909D-7C3F-4D26-A722-3F4E8DCDB3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FF85BD-6E37-4336-A514-829935B7452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9DAABF2-E24F-4F4C-BAC5-3A1046E90D7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C02FE73-0C58-49BA-9D49-2FB6EF3A12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8018975-4364-4782-9F4D-596A1CE8371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EEA2E30B-2EBC-419F-B457-DB062EC5E9B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763AD16-6A8A-457B-BE1C-05933C4F22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B24A1ABB-E70C-4843-804A-F187F85B054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E56EEC0-116F-4A65-A6E1-A8131DF49BA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A74A4485-CDDB-407B-B9B1-98DD0A51C7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481716C1-3A55-427E-A9F5-B6EFCC892FF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9" descr=""/>
          <p:cNvPicPr/>
          <p:nvPr/>
        </p:nvPicPr>
        <p:blipFill>
          <a:blip r:embed="rId2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pic>
        <p:nvPicPr>
          <p:cNvPr id="1" name="Picture 7" descr=""/>
          <p:cNvPicPr/>
          <p:nvPr/>
        </p:nvPicPr>
        <p:blipFill>
          <a:blip r:embed="rId3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1FC2DB-F16E-4DA4-959A-F8AC70A02DF2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9" descr=""/>
          <p:cNvPicPr/>
          <p:nvPr/>
        </p:nvPicPr>
        <p:blipFill>
          <a:blip r:embed="rId2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pic>
        <p:nvPicPr>
          <p:cNvPr id="10" name="Picture 7" descr=""/>
          <p:cNvPicPr/>
          <p:nvPr/>
        </p:nvPicPr>
        <p:blipFill>
          <a:blip r:embed="rId3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9CA6BF-7993-4116-B19F-4906B8CA0009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9" descr=""/>
          <p:cNvPicPr/>
          <p:nvPr/>
        </p:nvPicPr>
        <p:blipFill>
          <a:blip r:embed="rId2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pic>
        <p:nvPicPr>
          <p:cNvPr id="17" name="Picture 7" descr=""/>
          <p:cNvPicPr/>
          <p:nvPr/>
        </p:nvPicPr>
        <p:blipFill>
          <a:blip r:embed="rId3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EB832F-490D-4BBA-B9DF-580B36085611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9" descr=""/>
          <p:cNvPicPr/>
          <p:nvPr/>
        </p:nvPicPr>
        <p:blipFill>
          <a:blip r:embed="rId2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pic>
        <p:nvPicPr>
          <p:cNvPr id="24" name="Picture 7" descr=""/>
          <p:cNvPicPr/>
          <p:nvPr/>
        </p:nvPicPr>
        <p:blipFill>
          <a:blip r:embed="rId3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0AFC1F-6E92-4510-9246-08C675C091E9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9" descr=""/>
          <p:cNvPicPr/>
          <p:nvPr/>
        </p:nvPicPr>
        <p:blipFill>
          <a:blip r:embed="rId2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pic>
        <p:nvPicPr>
          <p:cNvPr id="33" name="Picture 7" descr=""/>
          <p:cNvPicPr/>
          <p:nvPr/>
        </p:nvPicPr>
        <p:blipFill>
          <a:blip r:embed="rId3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997A5E-5126-4631-9EFF-9D1F467C8A49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9" descr=""/>
          <p:cNvPicPr/>
          <p:nvPr/>
        </p:nvPicPr>
        <p:blipFill>
          <a:blip r:embed="rId2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pic>
        <p:nvPicPr>
          <p:cNvPr id="40" name="Picture 8" descr=""/>
          <p:cNvPicPr/>
          <p:nvPr/>
        </p:nvPicPr>
        <p:blipFill>
          <a:blip r:embed="rId3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3D727E-68B4-44B0-BD00-AD1E4312751B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9" descr=""/>
          <p:cNvPicPr/>
          <p:nvPr/>
        </p:nvPicPr>
        <p:blipFill>
          <a:blip r:embed="rId2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pic>
        <p:nvPicPr>
          <p:cNvPr id="51" name="Picture 10" descr=""/>
          <p:cNvPicPr/>
          <p:nvPr/>
        </p:nvPicPr>
        <p:blipFill>
          <a:blip r:embed="rId3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D670E8-B17B-4142-B84D-004FDDEA2372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9" descr=""/>
          <p:cNvPicPr/>
          <p:nvPr/>
        </p:nvPicPr>
        <p:blipFill>
          <a:blip r:embed="rId2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pic>
        <p:nvPicPr>
          <p:cNvPr id="61" name="Picture 6" descr=""/>
          <p:cNvPicPr/>
          <p:nvPr/>
        </p:nvPicPr>
        <p:blipFill>
          <a:blip r:embed="rId3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5EBD25-DF55-440D-AABB-54319FD4F7BF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9" descr=""/>
          <p:cNvPicPr/>
          <p:nvPr/>
        </p:nvPicPr>
        <p:blipFill>
          <a:blip r:embed="rId2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pic>
        <p:nvPicPr>
          <p:cNvPr id="68" name="Picture 5" descr=""/>
          <p:cNvPicPr/>
          <p:nvPr/>
        </p:nvPicPr>
        <p:blipFill>
          <a:blip r:embed="rId3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69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D129FA-C2B3-4D46-AB6C-2E8603C82696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9" descr=""/>
          <p:cNvPicPr/>
          <p:nvPr/>
        </p:nvPicPr>
        <p:blipFill>
          <a:blip r:embed="rId2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pic>
        <p:nvPicPr>
          <p:cNvPr id="75" name="Picture 8" descr=""/>
          <p:cNvPicPr/>
          <p:nvPr/>
        </p:nvPicPr>
        <p:blipFill>
          <a:blip r:embed="rId3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B238E2-1F18-449C-AD3E-3D83B961C4D7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9" descr=""/>
          <p:cNvPicPr/>
          <p:nvPr/>
        </p:nvPicPr>
        <p:blipFill>
          <a:blip r:embed="rId2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pic>
        <p:nvPicPr>
          <p:cNvPr id="83" name="Picture 8" descr=""/>
          <p:cNvPicPr/>
          <p:nvPr/>
        </p:nvPicPr>
        <p:blipFill>
          <a:blip r:embed="rId3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F49C8B-0FF2-4F40-A01F-AF30D5E7E5F1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4" descr=""/>
          <p:cNvPicPr/>
          <p:nvPr/>
        </p:nvPicPr>
        <p:blipFill>
          <a:blip r:embed="rId1"/>
          <a:stretch/>
        </p:blipFill>
        <p:spPr>
          <a:xfrm>
            <a:off x="0" y="0"/>
            <a:ext cx="12191040" cy="6858000"/>
          </a:xfrm>
          <a:prstGeom prst="rect">
            <a:avLst/>
          </a:prstGeom>
          <a:ln w="0">
            <a:noFill/>
          </a:ln>
        </p:spPr>
      </p:pic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3126600" y="7930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IN" sz="6000" spc="-1" strike="noStrike">
                <a:solidFill>
                  <a:schemeClr val="dk1"/>
                </a:solidFill>
                <a:latin typeface="Times New Roman"/>
              </a:rPr>
              <a:t>Smart Safety Band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0" y="3074040"/>
            <a:ext cx="78710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en-IN" sz="2400" spc="-1" strike="noStrike">
                <a:solidFill>
                  <a:schemeClr val="dk1"/>
                </a:solidFill>
                <a:latin typeface="Times New Roman"/>
              </a:rPr>
              <a:t>For Personal Safety and Communication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i="1" lang="en-US" sz="2400" spc="-1" strike="noStrike">
                <a:solidFill>
                  <a:schemeClr val="dk1"/>
                </a:solidFill>
                <a:latin typeface="Times New Roman"/>
              </a:rPr>
              <a:t>Power-Saving GPS • SOS Emergency • Audio Communication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2" descr=""/>
          <p:cNvPicPr/>
          <p:nvPr/>
        </p:nvPicPr>
        <p:blipFill>
          <a:blip r:embed="rId1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94" name="Title 5"/>
          <p:cNvSpPr/>
          <p:nvPr/>
        </p:nvSpPr>
        <p:spPr>
          <a:xfrm>
            <a:off x="81720" y="79308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</a:pPr>
            <a:r>
              <a:rPr b="0" lang="en-IN" sz="4400" spc="-1" strike="noStrike">
                <a:solidFill>
                  <a:schemeClr val="dk1"/>
                </a:solidFill>
                <a:latin typeface="Times New Roman"/>
              </a:rPr>
              <a:t>Circuit Diagram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itle 5"/>
          <p:cNvSpPr/>
          <p:nvPr/>
        </p:nvSpPr>
        <p:spPr>
          <a:xfrm>
            <a:off x="81720" y="158580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</a:pPr>
            <a:endParaRPr b="0" lang="en-IN" sz="2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96" name="Content 2"/>
          <p:cNvSpPr/>
          <p:nvPr/>
        </p:nvSpPr>
        <p:spPr>
          <a:xfrm>
            <a:off x="234000" y="1738440"/>
            <a:ext cx="11643480" cy="35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</a:pPr>
            <a:endParaRPr b="0" lang="en-IN" sz="2200" spc="-1" strike="noStrike">
              <a:solidFill>
                <a:schemeClr val="dk1"/>
              </a:solidFill>
              <a:latin typeface="Times New Roman"/>
            </a:endParaRPr>
          </a:p>
        </p:txBody>
      </p:sp>
      <p:pic>
        <p:nvPicPr>
          <p:cNvPr id="97" name="Picture 7" descr=""/>
          <p:cNvPicPr/>
          <p:nvPr/>
        </p:nvPicPr>
        <p:blipFill>
          <a:blip r:embed="rId2"/>
          <a:stretch/>
        </p:blipFill>
        <p:spPr>
          <a:xfrm>
            <a:off x="3779280" y="1585800"/>
            <a:ext cx="4632840" cy="3599640"/>
          </a:xfrm>
          <a:prstGeom prst="rect">
            <a:avLst/>
          </a:prstGeom>
          <a:ln w="0">
            <a:noFill/>
          </a:ln>
        </p:spPr>
      </p:pic>
      <p:sp>
        <p:nvSpPr>
          <p:cNvPr id="98" name="TextBox 9"/>
          <p:cNvSpPr/>
          <p:nvPr/>
        </p:nvSpPr>
        <p:spPr>
          <a:xfrm>
            <a:off x="314280" y="5100840"/>
            <a:ext cx="11643480" cy="66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2251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</a:rPr>
              <a:t>An industrial-grade cellular telemetry and emergency call framework featuring dynamic 2D Kalman filtering and GPS/Cell-Tower hybrid location fallback.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2" descr=""/>
          <p:cNvPicPr/>
          <p:nvPr/>
        </p:nvPicPr>
        <p:blipFill>
          <a:blip r:embed="rId1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100" name="Title 5"/>
          <p:cNvSpPr/>
          <p:nvPr/>
        </p:nvSpPr>
        <p:spPr>
          <a:xfrm>
            <a:off x="81720" y="79308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</a:pPr>
            <a:r>
              <a:rPr b="0" lang="en-IN" sz="4400" spc="-1" strike="noStrike">
                <a:solidFill>
                  <a:schemeClr val="dk1"/>
                </a:solidFill>
                <a:latin typeface="Times New Roman"/>
              </a:rPr>
              <a:t>Quick Overview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itle 5"/>
          <p:cNvSpPr/>
          <p:nvPr/>
        </p:nvSpPr>
        <p:spPr>
          <a:xfrm>
            <a:off x="81720" y="158580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</a:pPr>
            <a:endParaRPr b="0" lang="en-IN" sz="2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02" name="Content 2"/>
          <p:cNvSpPr/>
          <p:nvPr/>
        </p:nvSpPr>
        <p:spPr>
          <a:xfrm>
            <a:off x="234000" y="1738440"/>
            <a:ext cx="11643480" cy="35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</a:pPr>
            <a:endParaRPr b="0" lang="en-IN" sz="2200" spc="-1" strike="noStrike">
              <a:solidFill>
                <a:schemeClr val="dk1"/>
              </a:solidFill>
              <a:latin typeface="Times New Roman"/>
            </a:endParaRPr>
          </a:p>
        </p:txBody>
      </p:sp>
      <p:graphicFrame>
        <p:nvGraphicFramePr>
          <p:cNvPr id="103" name="Table 5"/>
          <p:cNvGraphicFramePr/>
          <p:nvPr/>
        </p:nvGraphicFramePr>
        <p:xfrm>
          <a:off x="2031840" y="1869480"/>
          <a:ext cx="8127720" cy="3337200"/>
        </p:xfrm>
        <a:graphic>
          <a:graphicData uri="http://schemas.openxmlformats.org/drawingml/2006/table">
            <a:tbl>
              <a:tblPr/>
              <a:tblGrid>
                <a:gridCol w="3115080"/>
                <a:gridCol w="501264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Parameters Used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Details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Main Board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GeoLinker GL868 (ESP32-S3 + SIM868)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GSM Module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SIM868 (2G GSM / GPRS + GPS)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Trigger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Push Button on GPIO 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Audio Output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4</a:t>
                      </a:r>
                      <a:r>
                        <a:rPr b="0" lang="el-GR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Ω</a:t>
                      </a: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Speaker on SP+ / SP- pins (max 1W at 8</a:t>
                      </a:r>
                      <a:r>
                        <a:rPr b="0" lang="el-GR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Ω</a:t>
                      </a: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Audio Input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Condenser microphone on M+ / M-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Power Supply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3.7V Li-ion battery via JST connector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SIM Type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2G GSM SIM with active voice plan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Auto-Answer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Yes – detects RUNG, sends ATA command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2" descr=""/>
          <p:cNvPicPr/>
          <p:nvPr/>
        </p:nvPicPr>
        <p:blipFill>
          <a:blip r:embed="rId1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105" name="Title 5"/>
          <p:cNvSpPr/>
          <p:nvPr/>
        </p:nvSpPr>
        <p:spPr>
          <a:xfrm>
            <a:off x="81720" y="79308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</a:pPr>
            <a:r>
              <a:rPr b="0" lang="en-IN" sz="4400" spc="-1" strike="noStrike">
                <a:solidFill>
                  <a:schemeClr val="dk1"/>
                </a:solidFill>
                <a:latin typeface="Times New Roman"/>
              </a:rPr>
              <a:t>Components Used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itle 5"/>
          <p:cNvSpPr/>
          <p:nvPr/>
        </p:nvSpPr>
        <p:spPr>
          <a:xfrm>
            <a:off x="81720" y="158580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</a:pPr>
            <a:endParaRPr b="0" lang="en-IN" sz="2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07" name="Content 2"/>
          <p:cNvSpPr/>
          <p:nvPr/>
        </p:nvSpPr>
        <p:spPr>
          <a:xfrm>
            <a:off x="234000" y="1738440"/>
            <a:ext cx="11643480" cy="35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</a:pPr>
            <a:endParaRPr b="0" lang="en-IN" sz="2200" spc="-1" strike="noStrike">
              <a:solidFill>
                <a:schemeClr val="dk1"/>
              </a:solidFill>
              <a:latin typeface="Times New Roman"/>
            </a:endParaRPr>
          </a:p>
        </p:txBody>
      </p:sp>
      <p:graphicFrame>
        <p:nvGraphicFramePr>
          <p:cNvPr id="108" name="Table 5"/>
          <p:cNvGraphicFramePr/>
          <p:nvPr/>
        </p:nvGraphicFramePr>
        <p:xfrm>
          <a:off x="2031840" y="1869480"/>
          <a:ext cx="8127720" cy="2966400"/>
        </p:xfrm>
        <a:graphic>
          <a:graphicData uri="http://schemas.openxmlformats.org/drawingml/2006/table">
            <a:tbl>
              <a:tblPr/>
              <a:tblGrid>
                <a:gridCol w="791280"/>
                <a:gridCol w="2945520"/>
                <a:gridCol w="439056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S No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Parameters Used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Details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1.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GeoLinker GL868 dev board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The main controller for the project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2.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4</a:t>
                      </a:r>
                      <a:r>
                        <a:rPr b="0" lang="el-GR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Ω</a:t>
                      </a: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Speaker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To get the audio output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3.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Condenser Mic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To give audio input to the device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4.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3.7V Lithium Battery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To power the whole project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5.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Push Button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To trigger a SMS and Call on button press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6.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SIM Card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2G GSM card for connectivity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7.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Connecting wires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To make the whole circuit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2" descr=""/>
          <p:cNvPicPr/>
          <p:nvPr/>
        </p:nvPicPr>
        <p:blipFill>
          <a:blip r:embed="rId1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110" name="Title 5"/>
          <p:cNvSpPr/>
          <p:nvPr/>
        </p:nvSpPr>
        <p:spPr>
          <a:xfrm>
            <a:off x="81720" y="79308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</a:pPr>
            <a:r>
              <a:rPr b="0" lang="en-IN" sz="4400" spc="-1" strike="noStrike">
                <a:solidFill>
                  <a:schemeClr val="dk1"/>
                </a:solidFill>
                <a:latin typeface="Times New Roman"/>
              </a:rPr>
              <a:t>SIM868 AT Commands Used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itle 5"/>
          <p:cNvSpPr/>
          <p:nvPr/>
        </p:nvSpPr>
        <p:spPr>
          <a:xfrm>
            <a:off x="81720" y="158580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</a:pPr>
            <a:endParaRPr b="0" lang="en-IN" sz="2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12" name="Content 2"/>
          <p:cNvSpPr/>
          <p:nvPr/>
        </p:nvSpPr>
        <p:spPr>
          <a:xfrm>
            <a:off x="234000" y="1738440"/>
            <a:ext cx="11643480" cy="35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</a:pPr>
            <a:endParaRPr b="0" lang="en-IN" sz="2200" spc="-1" strike="noStrike">
              <a:solidFill>
                <a:schemeClr val="dk1"/>
              </a:solidFill>
              <a:latin typeface="Times New Roman"/>
            </a:endParaRPr>
          </a:p>
        </p:txBody>
      </p:sp>
      <p:graphicFrame>
        <p:nvGraphicFramePr>
          <p:cNvPr id="113" name="Table 5"/>
          <p:cNvGraphicFramePr/>
          <p:nvPr/>
        </p:nvGraphicFramePr>
        <p:xfrm>
          <a:off x="234000" y="1585800"/>
          <a:ext cx="11643480" cy="3564360"/>
        </p:xfrm>
        <a:graphic>
          <a:graphicData uri="http://schemas.openxmlformats.org/drawingml/2006/table">
            <a:tbl>
              <a:tblPr/>
              <a:tblGrid>
                <a:gridCol w="1133640"/>
                <a:gridCol w="2343960"/>
                <a:gridCol w="816588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S No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AT Command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Purpose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1.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Basic modem communication / AT handshake. Used during SIM868 initialization and diagnostics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2.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ATI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Reads modem identification / firmware information. Used during full diagnostics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3.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AT+CGSN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Reads the modem IMEI number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4.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AT+CIMI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Reads the IMSI of the SIM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5.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AT+CCID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Reads the SIM ICCID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6.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AT+CNUM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Reads the phone number associated with the SIM / modem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7.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AT+CPIN?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Check whether the SIM is ready. The source looks for </a:t>
                      </a:r>
                      <a:r>
                        <a:rPr b="1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READY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8.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AT+CCID?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Queries SIM ICCID in the SIM-status diagnostic function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2" descr=""/>
          <p:cNvPicPr/>
          <p:nvPr/>
        </p:nvPicPr>
        <p:blipFill>
          <a:blip r:embed="rId1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115" name="Title 5"/>
          <p:cNvSpPr/>
          <p:nvPr/>
        </p:nvSpPr>
        <p:spPr>
          <a:xfrm>
            <a:off x="81720" y="79308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</a:pPr>
            <a:r>
              <a:rPr b="0" lang="en-IN" sz="4400" spc="-1" strike="noStrike">
                <a:solidFill>
                  <a:schemeClr val="dk1"/>
                </a:solidFill>
                <a:latin typeface="Times New Roman"/>
              </a:rPr>
              <a:t>SIM868 AT Commands Used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itle 5"/>
          <p:cNvSpPr/>
          <p:nvPr/>
        </p:nvSpPr>
        <p:spPr>
          <a:xfrm>
            <a:off x="81720" y="158580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</a:pPr>
            <a:endParaRPr b="0" lang="en-IN" sz="2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17" name="Content 2"/>
          <p:cNvSpPr/>
          <p:nvPr/>
        </p:nvSpPr>
        <p:spPr>
          <a:xfrm>
            <a:off x="234000" y="1738440"/>
            <a:ext cx="11643480" cy="35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</a:pPr>
            <a:endParaRPr b="0" lang="en-IN" sz="2200" spc="-1" strike="noStrike">
              <a:solidFill>
                <a:schemeClr val="dk1"/>
              </a:solidFill>
              <a:latin typeface="Times New Roman"/>
            </a:endParaRPr>
          </a:p>
        </p:txBody>
      </p:sp>
      <p:graphicFrame>
        <p:nvGraphicFramePr>
          <p:cNvPr id="118" name="Table 5"/>
          <p:cNvGraphicFramePr/>
          <p:nvPr/>
        </p:nvGraphicFramePr>
        <p:xfrm>
          <a:off x="234000" y="1519560"/>
          <a:ext cx="11643480" cy="4018680"/>
        </p:xfrm>
        <a:graphic>
          <a:graphicData uri="http://schemas.openxmlformats.org/drawingml/2006/table">
            <a:tbl>
              <a:tblPr/>
              <a:tblGrid>
                <a:gridCol w="1133640"/>
                <a:gridCol w="2343960"/>
                <a:gridCol w="816588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S No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AT Command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Purpose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9.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AT+COPS?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Queries the currently selected network / operator. Used in diagnostics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10.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AT+CSQ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Reads GSM signal quality / RSSI. Used during registration timeout, diagnostics and call preflight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11.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AT+CREG?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Checks GSM circuit-switched network registration status. Registration is accepted when the response contains status </a:t>
                      </a:r>
                      <a:r>
                        <a:rPr b="1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1</a:t>
                      </a: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or </a:t>
                      </a:r>
                      <a:r>
                        <a:rPr b="1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12.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AT+CGREG?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Checks GPRS / packet-domain registration status.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13.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AT+CMEE=2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Enables verbose modem error reporting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14.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AT+CIURC=0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Disables initial readiness URCs such as Call Ready / SMS Ready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15.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AT+CGDCONT?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Queries the currently configured PDP context / APN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16.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AT+CGDCONT=1,”IP”,”&lt;APN&gt;”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Configures PDP context </a:t>
                      </a:r>
                      <a:r>
                        <a:rPr b="1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1</a:t>
                      </a: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with IP type and the configured APN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2" descr=""/>
          <p:cNvPicPr/>
          <p:nvPr/>
        </p:nvPicPr>
        <p:blipFill>
          <a:blip r:embed="rId1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120" name="Title 5"/>
          <p:cNvSpPr/>
          <p:nvPr/>
        </p:nvSpPr>
        <p:spPr>
          <a:xfrm>
            <a:off x="81720" y="79308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</a:pPr>
            <a:r>
              <a:rPr b="0" lang="en-IN" sz="4400" spc="-1" strike="noStrike">
                <a:solidFill>
                  <a:schemeClr val="dk1"/>
                </a:solidFill>
                <a:latin typeface="Times New Roman"/>
              </a:rPr>
              <a:t>SIM868 AT Commands Used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itle 5"/>
          <p:cNvSpPr/>
          <p:nvPr/>
        </p:nvSpPr>
        <p:spPr>
          <a:xfrm>
            <a:off x="81720" y="158580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</a:pPr>
            <a:endParaRPr b="0" lang="en-IN" sz="2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22" name="Content 2"/>
          <p:cNvSpPr/>
          <p:nvPr/>
        </p:nvSpPr>
        <p:spPr>
          <a:xfrm>
            <a:off x="234000" y="1738440"/>
            <a:ext cx="11643480" cy="35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</a:pPr>
            <a:endParaRPr b="0" lang="en-IN" sz="2200" spc="-1" strike="noStrike">
              <a:solidFill>
                <a:schemeClr val="dk1"/>
              </a:solidFill>
              <a:latin typeface="Times New Roman"/>
            </a:endParaRPr>
          </a:p>
        </p:txBody>
      </p:sp>
      <p:graphicFrame>
        <p:nvGraphicFramePr>
          <p:cNvPr id="123" name="Table 5"/>
          <p:cNvGraphicFramePr/>
          <p:nvPr/>
        </p:nvGraphicFramePr>
        <p:xfrm>
          <a:off x="234000" y="1519560"/>
          <a:ext cx="11643480" cy="3791520"/>
        </p:xfrm>
        <a:graphic>
          <a:graphicData uri="http://schemas.openxmlformats.org/drawingml/2006/table">
            <a:tbl>
              <a:tblPr/>
              <a:tblGrid>
                <a:gridCol w="1133640"/>
                <a:gridCol w="2578320"/>
                <a:gridCol w="793116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S No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AT Command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Purpose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17.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AT+CGNSPWR=1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Powers ON the SIM868 GNSS Engine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18.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AT+CGNSPWR=0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Powers OFF the GNSS engine for power saving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19.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AT+CGNSSEQ=“GGA”,”GSA”,”GSV”,”RMC”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Requests richer GNSS sentence / metadata output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20.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AT+CGNSSEQ=“RMC”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Configures RMC as the final GNSS sequence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21.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AT+CGNSINF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Retrieves current GNSS information including fix status, timestamp, latitude, longitude, HDOP and satellite information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22.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AT+CIPGSMLOC=1,1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Requests GSM / network-based location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23.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AT+CLBS=1,1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Requests location based on cell / network information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24.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AT+CLBS?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Queries the cell-based location service / status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2" descr=""/>
          <p:cNvPicPr/>
          <p:nvPr/>
        </p:nvPicPr>
        <p:blipFill>
          <a:blip r:embed="rId1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125" name="Title 5"/>
          <p:cNvSpPr/>
          <p:nvPr/>
        </p:nvSpPr>
        <p:spPr>
          <a:xfrm>
            <a:off x="81720" y="79308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</a:pPr>
            <a:r>
              <a:rPr b="0" lang="en-IN" sz="4400" spc="-1" strike="noStrike">
                <a:solidFill>
                  <a:schemeClr val="dk1"/>
                </a:solidFill>
                <a:latin typeface="Times New Roman"/>
              </a:rPr>
              <a:t>SIM868 AT Commands Used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itle 5"/>
          <p:cNvSpPr/>
          <p:nvPr/>
        </p:nvSpPr>
        <p:spPr>
          <a:xfrm>
            <a:off x="81720" y="158580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</a:pPr>
            <a:endParaRPr b="0" lang="en-IN" sz="2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27" name="Content 2"/>
          <p:cNvSpPr/>
          <p:nvPr/>
        </p:nvSpPr>
        <p:spPr>
          <a:xfrm>
            <a:off x="234000" y="1738440"/>
            <a:ext cx="11643480" cy="35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</a:pPr>
            <a:endParaRPr b="0" lang="en-IN" sz="2200" spc="-1" strike="noStrike">
              <a:solidFill>
                <a:schemeClr val="dk1"/>
              </a:solidFill>
              <a:latin typeface="Times New Roman"/>
            </a:endParaRPr>
          </a:p>
        </p:txBody>
      </p:sp>
      <p:graphicFrame>
        <p:nvGraphicFramePr>
          <p:cNvPr id="128" name="Table 5"/>
          <p:cNvGraphicFramePr/>
          <p:nvPr/>
        </p:nvGraphicFramePr>
        <p:xfrm>
          <a:off x="234000" y="1519560"/>
          <a:ext cx="11643480" cy="4305960"/>
        </p:xfrm>
        <a:graphic>
          <a:graphicData uri="http://schemas.openxmlformats.org/drawingml/2006/table">
            <a:tbl>
              <a:tblPr/>
              <a:tblGrid>
                <a:gridCol w="1133640"/>
                <a:gridCol w="2578320"/>
                <a:gridCol w="793116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S No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AT Command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Purpose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25.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AT+CMGF=1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Selects SMS text mode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26.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AT+CMGS=“&lt;number&gt;”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Starts sending an SMS to the specified recipient and waits for the prompt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27.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ATD&lt;number&gt;;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Initiates voice call. The semicolon specifies a voice call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28.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AT+CLCC?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Queries current call list / status and is used to determine whether an active call exists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29.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AT+CPAS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Queries phone activity status after dialling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30.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AT+CEER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Retrieves an extended report when the call cannot be confirmed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31.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AT+CHFA=1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Selects audio channel 0 / external audio path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32.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AT+CLVL=90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Sets the speaker / loudspeaker volume level to 90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33.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AT+CMIC=0,12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Sets microphone gain for channel 0 to 12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34.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AT+SIDET=1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Enables / configures sidetone with the specified channel / gain parameters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Picture 2" descr=""/>
          <p:cNvPicPr/>
          <p:nvPr/>
        </p:nvPicPr>
        <p:blipFill>
          <a:blip r:embed="rId1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130" name="Title 5"/>
          <p:cNvSpPr/>
          <p:nvPr/>
        </p:nvSpPr>
        <p:spPr>
          <a:xfrm>
            <a:off x="81720" y="79308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</a:pPr>
            <a:r>
              <a:rPr b="0" lang="en-IN" sz="4400" spc="-1" strike="noStrike">
                <a:solidFill>
                  <a:schemeClr val="dk1"/>
                </a:solidFill>
                <a:latin typeface="Times New Roman"/>
              </a:rPr>
              <a:t>SIM868 HTTP AT Commands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itle 5"/>
          <p:cNvSpPr/>
          <p:nvPr/>
        </p:nvSpPr>
        <p:spPr>
          <a:xfrm>
            <a:off x="81720" y="158580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</a:pPr>
            <a:endParaRPr b="0" lang="en-IN" sz="2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32" name="Content 2"/>
          <p:cNvSpPr/>
          <p:nvPr/>
        </p:nvSpPr>
        <p:spPr>
          <a:xfrm>
            <a:off x="234000" y="1738440"/>
            <a:ext cx="11643480" cy="35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</a:pPr>
            <a:endParaRPr b="0" lang="en-IN" sz="2200" spc="-1" strike="noStrike">
              <a:solidFill>
                <a:schemeClr val="dk1"/>
              </a:solidFill>
              <a:latin typeface="Times New Roman"/>
            </a:endParaRPr>
          </a:p>
        </p:txBody>
      </p:sp>
      <p:graphicFrame>
        <p:nvGraphicFramePr>
          <p:cNvPr id="133" name="Table 5"/>
          <p:cNvGraphicFramePr/>
          <p:nvPr/>
        </p:nvGraphicFramePr>
        <p:xfrm>
          <a:off x="234000" y="1519560"/>
          <a:ext cx="11643480" cy="4018680"/>
        </p:xfrm>
        <a:graphic>
          <a:graphicData uri="http://schemas.openxmlformats.org/drawingml/2006/table">
            <a:tbl>
              <a:tblPr/>
              <a:tblGrid>
                <a:gridCol w="1133640"/>
                <a:gridCol w="2578320"/>
                <a:gridCol w="793116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S No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AT Command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Purpose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35.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AT+CGATT=1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Attaches modem to GPRS packet-data service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36.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AT+SAPBR=3,1,“Contype”,“GPRS”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Sets SAPBR bearer 1 connection type to GPRS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37.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AT+SAPBR=3,1,“APN”,“&lt;apn&gt;”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Sets the APN for bearer profile 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38.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AT+SAPBR=1,1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Opens (activates) the GPRS bearer / PDP context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39.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AT+SAPBR=2,1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Confirms bearer status and assigned IP address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40.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AT+HTTPINIT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Initializes the HTTP service session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41.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AT+HTTPSSL=1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Enables SSL for HTTPS endpoints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42.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AT+HTTPPARA=“CID”,1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Binds the HTTP session to bearer profile 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Picture 2" descr=""/>
          <p:cNvPicPr/>
          <p:nvPr/>
        </p:nvPicPr>
        <p:blipFill>
          <a:blip r:embed="rId1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135" name="Title 5"/>
          <p:cNvSpPr/>
          <p:nvPr/>
        </p:nvSpPr>
        <p:spPr>
          <a:xfrm>
            <a:off x="81720" y="79308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</a:pPr>
            <a:r>
              <a:rPr b="0" lang="en-IN" sz="4400" spc="-1" strike="noStrike">
                <a:solidFill>
                  <a:schemeClr val="dk1"/>
                </a:solidFill>
                <a:latin typeface="Times New Roman"/>
              </a:rPr>
              <a:t>SIM868 HTTP AT Commands (contd.)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itle 5"/>
          <p:cNvSpPr/>
          <p:nvPr/>
        </p:nvSpPr>
        <p:spPr>
          <a:xfrm>
            <a:off x="81720" y="158580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</a:pPr>
            <a:endParaRPr b="0" lang="en-IN" sz="2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37" name="Content 2"/>
          <p:cNvSpPr/>
          <p:nvPr/>
        </p:nvSpPr>
        <p:spPr>
          <a:xfrm>
            <a:off x="234000" y="1738440"/>
            <a:ext cx="11643480" cy="35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</a:pPr>
            <a:endParaRPr b="0" lang="en-IN" sz="2200" spc="-1" strike="noStrike">
              <a:solidFill>
                <a:schemeClr val="dk1"/>
              </a:solidFill>
              <a:latin typeface="Times New Roman"/>
            </a:endParaRPr>
          </a:p>
        </p:txBody>
      </p:sp>
      <p:graphicFrame>
        <p:nvGraphicFramePr>
          <p:cNvPr id="138" name="Table 5"/>
          <p:cNvGraphicFramePr/>
          <p:nvPr/>
        </p:nvGraphicFramePr>
        <p:xfrm>
          <a:off x="234000" y="1519560"/>
          <a:ext cx="11643480" cy="4355280"/>
        </p:xfrm>
        <a:graphic>
          <a:graphicData uri="http://schemas.openxmlformats.org/drawingml/2006/table">
            <a:tbl>
              <a:tblPr/>
              <a:tblGrid>
                <a:gridCol w="1133640"/>
                <a:gridCol w="2578320"/>
                <a:gridCol w="793116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S No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AT Command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Purpose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43.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AT+HTTPPARA=“URL”,“&lt;url&gt;”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Sets the destination URL for the POST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44.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AT+HTTPPARA=“CONTENT”,“application/json”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Sets Content-Type header for the JSON body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45.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AT+HTTPPARA=“TIMEOUT”,30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Sets the HTTP request timeout in seconds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46.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AT+HTTPDATA=&lt;size&gt;,10000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Announces payload size; module replies DOWNLOAD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47.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AT+HTTPACTION=1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Executes the HTTP POST with the uploaded JSON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48.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AT+HTTPREAD=0,&lt;len&gt;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Reads back the server’s response body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49.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AT+HTTPTERM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Terminates the HTTP session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Picture 2" descr=""/>
          <p:cNvPicPr/>
          <p:nvPr/>
        </p:nvPicPr>
        <p:blipFill>
          <a:blip r:embed="rId1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140" name="Title 5"/>
          <p:cNvSpPr/>
          <p:nvPr/>
        </p:nvSpPr>
        <p:spPr>
          <a:xfrm>
            <a:off x="81720" y="793080"/>
            <a:ext cx="1106712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</a:pPr>
            <a:r>
              <a:rPr b="0" lang="en-IN" sz="4400" spc="-1" strike="noStrike">
                <a:solidFill>
                  <a:schemeClr val="dk1"/>
                </a:solidFill>
                <a:latin typeface="Times New Roman"/>
              </a:rPr>
              <a:t>About SIM868 GSM / GPRS + GNSS Module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itle 5"/>
          <p:cNvSpPr/>
          <p:nvPr/>
        </p:nvSpPr>
        <p:spPr>
          <a:xfrm>
            <a:off x="81720" y="1585800"/>
            <a:ext cx="1177308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Quad-Band GSM (850 / 900 / 1800 / 1900MHz) – Supports global network compatibility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Integrated GNSS – Includes, GPS, GLONASS and BeiDou for accurate positioning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Versatile Communication – Supports voice calls, SMS, and GPRS data transfer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Multiple Interfaces – Includes UART, USB, and GPIO for flexible integration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Technical Parameters – Frequency Bands: GSM 850 / 900 / 1800 / 1900 MHz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	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	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	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- GPRS: Class 12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	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	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	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- GNSS: GPS, GLONASS, BDS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	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	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	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- Operating Voltage: GSM - 3.4V to 4.4V, GPS – 2.9V to 4.4V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	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	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	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- Operating temperature: -40℃ to +85℃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Picture 2" descr=""/>
          <p:cNvPicPr/>
          <p:nvPr/>
        </p:nvPicPr>
        <p:blipFill>
          <a:blip r:embed="rId1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143" name="Title 5"/>
          <p:cNvSpPr/>
          <p:nvPr/>
        </p:nvSpPr>
        <p:spPr>
          <a:xfrm>
            <a:off x="81720" y="793080"/>
            <a:ext cx="1106712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</a:pPr>
            <a:r>
              <a:rPr b="0" lang="en-IN" sz="4400" spc="-1" strike="noStrike">
                <a:solidFill>
                  <a:schemeClr val="dk1"/>
                </a:solidFill>
                <a:latin typeface="Times New Roman"/>
              </a:rPr>
              <a:t>About SIM868 GSM / GPRS + GNSS Module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itle 5"/>
          <p:cNvSpPr/>
          <p:nvPr/>
        </p:nvSpPr>
        <p:spPr>
          <a:xfrm>
            <a:off x="81720" y="1585800"/>
            <a:ext cx="1177308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</a:pPr>
            <a:endParaRPr b="0" lang="en-IN" sz="2200" spc="-1" strike="noStrike">
              <a:solidFill>
                <a:schemeClr val="dk1"/>
              </a:solidFill>
              <a:latin typeface="Times New Roman"/>
            </a:endParaRPr>
          </a:p>
        </p:txBody>
      </p:sp>
      <p:pic>
        <p:nvPicPr>
          <p:cNvPr id="145" name="Picture 5" descr=""/>
          <p:cNvPicPr/>
          <p:nvPr/>
        </p:nvPicPr>
        <p:blipFill>
          <a:blip r:embed="rId2"/>
          <a:stretch/>
        </p:blipFill>
        <p:spPr>
          <a:xfrm>
            <a:off x="3108240" y="1748520"/>
            <a:ext cx="5501880" cy="3360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Picture 2" descr=""/>
          <p:cNvPicPr/>
          <p:nvPr/>
        </p:nvPicPr>
        <p:blipFill>
          <a:blip r:embed="rId1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147" name="Title 5"/>
          <p:cNvSpPr/>
          <p:nvPr/>
        </p:nvSpPr>
        <p:spPr>
          <a:xfrm>
            <a:off x="81720" y="79308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</a:pPr>
            <a:r>
              <a:rPr b="0" lang="en-IN" sz="4400" spc="-1" strike="noStrike">
                <a:solidFill>
                  <a:schemeClr val="dk1"/>
                </a:solidFill>
                <a:latin typeface="Times New Roman"/>
              </a:rPr>
              <a:t>Features Implemented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itle 5"/>
          <p:cNvSpPr/>
          <p:nvPr/>
        </p:nvSpPr>
        <p:spPr>
          <a:xfrm>
            <a:off x="81720" y="158580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SOS Button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Emergency Alert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Live GPS Location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Location Sharing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GSM / LTE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GNSS / GPS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Voice Communication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SMS Alerts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HTTP JSON Telemetry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Picture 2" descr=""/>
          <p:cNvPicPr/>
          <p:nvPr/>
        </p:nvPicPr>
        <p:blipFill>
          <a:blip r:embed="rId1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150" name="Title 5"/>
          <p:cNvSpPr/>
          <p:nvPr/>
        </p:nvSpPr>
        <p:spPr>
          <a:xfrm>
            <a:off x="81720" y="79308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</a:pPr>
            <a:r>
              <a:rPr b="0" lang="en-IN" sz="4400" spc="-1" strike="noStrike">
                <a:solidFill>
                  <a:schemeClr val="dk1"/>
                </a:solidFill>
                <a:latin typeface="Times New Roman"/>
              </a:rPr>
              <a:t>1. SOS Button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itle 5"/>
          <p:cNvSpPr/>
          <p:nvPr/>
        </p:nvSpPr>
        <p:spPr>
          <a:xfrm>
            <a:off x="81720" y="158580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</a:pPr>
            <a:endParaRPr b="0" lang="en-IN" sz="2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52" name="Title 5"/>
          <p:cNvSpPr/>
          <p:nvPr/>
        </p:nvSpPr>
        <p:spPr>
          <a:xfrm>
            <a:off x="234000" y="1738440"/>
            <a:ext cx="11643480" cy="35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The SOS GPIO is configured as an input with pull-up and any edge interrupt with active level 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0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A dedicated SOS button task polls the GPIO every 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100 ms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 and debounces level changes before queuing a 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COMM_EVENT_EMERGENCY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 event.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The Communication Task picks up the event and calls 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gl868_modem_trigger_emergency()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 to start the alert sequence.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Picture 2" descr=""/>
          <p:cNvPicPr/>
          <p:nvPr/>
        </p:nvPicPr>
        <p:blipFill>
          <a:blip r:embed="rId1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154" name="Title 5"/>
          <p:cNvSpPr/>
          <p:nvPr/>
        </p:nvSpPr>
        <p:spPr>
          <a:xfrm>
            <a:off x="81720" y="79308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</a:pPr>
            <a:r>
              <a:rPr b="0" lang="en-IN" sz="4400" spc="-1" strike="noStrike">
                <a:solidFill>
                  <a:schemeClr val="dk1"/>
                </a:solidFill>
                <a:latin typeface="Times New Roman"/>
              </a:rPr>
              <a:t>2. Emergency Alert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itle 5"/>
          <p:cNvSpPr/>
          <p:nvPr/>
        </p:nvSpPr>
        <p:spPr>
          <a:xfrm>
            <a:off x="81720" y="158580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</a:pPr>
            <a:endParaRPr b="0" lang="en-IN" sz="2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56" name="Content 2"/>
          <p:cNvSpPr/>
          <p:nvPr/>
        </p:nvSpPr>
        <p:spPr>
          <a:xfrm>
            <a:off x="234000" y="1738440"/>
            <a:ext cx="11643480" cy="35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gl868_modem_trigger_emergency()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 first confirms the SIM is ready and waits up to 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30 seconds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 for GSM network registration before proceeding.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A single GPS attempt (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10 s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 timeout) is made; on failure the alert still proceeds and a deferred GPS retry is queued separately.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The alert SMS embeds the coordinates, a Google Maps link, and the current battery percentage, and is sent to 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every configured recipient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 (comma/semicolon-separated list).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After a 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2 second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 delay, the modem places a call to the emergency number and logs whether the call was confirmed.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Picture 2" descr=""/>
          <p:cNvPicPr/>
          <p:nvPr/>
        </p:nvPicPr>
        <p:blipFill>
          <a:blip r:embed="rId1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158" name="Title 5"/>
          <p:cNvSpPr/>
          <p:nvPr/>
        </p:nvSpPr>
        <p:spPr>
          <a:xfrm>
            <a:off x="81720" y="79308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</a:pPr>
            <a:r>
              <a:rPr b="0" lang="en-IN" sz="4400" spc="-1" strike="noStrike">
                <a:solidFill>
                  <a:schemeClr val="dk1"/>
                </a:solidFill>
                <a:latin typeface="Times New Roman"/>
              </a:rPr>
              <a:t>3. Live GPS Location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itle 5"/>
          <p:cNvSpPr/>
          <p:nvPr/>
        </p:nvSpPr>
        <p:spPr>
          <a:xfrm>
            <a:off x="81720" y="158580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</a:pPr>
            <a:endParaRPr b="0" lang="en-IN" sz="2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60" name="Content 2"/>
          <p:cNvSpPr/>
          <p:nvPr/>
        </p:nvSpPr>
        <p:spPr>
          <a:xfrm>
            <a:off x="234000" y="1738440"/>
            <a:ext cx="11643480" cy="35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A dedicated task queues a 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COMM_EVENT_LIVE_TRACKING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 event every 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3 minutes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 without competing for the modem UART used by SOS and diagnostics.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gl868_modem_send_live_location()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 resolves the current fix via 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gl868_modem_get_gps_coordinates()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 and builds a Google Maps link.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The link is sent as an SMS to the configured emergency contact, giving continuous live tracking outside of emergencies.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Picture 2" descr=""/>
          <p:cNvPicPr/>
          <p:nvPr/>
        </p:nvPicPr>
        <p:blipFill>
          <a:blip r:embed="rId1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162" name="Title 5"/>
          <p:cNvSpPr/>
          <p:nvPr/>
        </p:nvSpPr>
        <p:spPr>
          <a:xfrm>
            <a:off x="81720" y="79308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</a:pPr>
            <a:r>
              <a:rPr b="0" lang="en-IN" sz="4400" spc="-1" strike="noStrike">
                <a:solidFill>
                  <a:schemeClr val="dk1"/>
                </a:solidFill>
                <a:latin typeface="Times New Roman"/>
              </a:rPr>
              <a:t>4. GSM / LTE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itle 5"/>
          <p:cNvSpPr/>
          <p:nvPr/>
        </p:nvSpPr>
        <p:spPr>
          <a:xfrm>
            <a:off x="81720" y="158580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</a:pPr>
            <a:endParaRPr b="0" lang="en-IN" sz="2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64" name="Content 2"/>
          <p:cNvSpPr/>
          <p:nvPr/>
        </p:nvSpPr>
        <p:spPr>
          <a:xfrm>
            <a:off x="234000" y="1738440"/>
            <a:ext cx="11643480" cy="35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gl868_modem_init()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 brings up the SIM868 over UART at 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115200 baud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 and performs an extended AT handshake, falling back to 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3 retries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 with a power-cycle between attempts.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Once the modem responds, the code waits for the SIM to report ready (up to 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30 s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) and configures the APN before continuing.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GSM network registration is awaited for up to 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45 seconds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; initialization still proceeds if it doesn't complete, and later operations re-check registration as needed.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Picture 2" descr=""/>
          <p:cNvPicPr/>
          <p:nvPr/>
        </p:nvPicPr>
        <p:blipFill>
          <a:blip r:embed="rId1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166" name="Title 5"/>
          <p:cNvSpPr/>
          <p:nvPr/>
        </p:nvSpPr>
        <p:spPr>
          <a:xfrm>
            <a:off x="81720" y="79308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</a:pPr>
            <a:r>
              <a:rPr b="0" lang="en-IN" sz="4400" spc="-1" strike="noStrike">
                <a:solidFill>
                  <a:schemeClr val="dk1"/>
                </a:solidFill>
                <a:latin typeface="Times New Roman"/>
              </a:rPr>
              <a:t>5. GNSS / GPS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itle 5"/>
          <p:cNvSpPr/>
          <p:nvPr/>
        </p:nvSpPr>
        <p:spPr>
          <a:xfrm>
            <a:off x="81720" y="158580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</a:pPr>
            <a:endParaRPr b="0" lang="en-IN" sz="2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68" name="Content 2"/>
          <p:cNvSpPr/>
          <p:nvPr/>
        </p:nvSpPr>
        <p:spPr>
          <a:xfrm>
            <a:off x="234000" y="1738440"/>
            <a:ext cx="7652160" cy="35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GPS is enabled during initialization (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AT+CGNSPWR=1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) and configured for richer GGA / GSA / GSV / RMC metadata.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gl868_modem_get_gps_coordinates()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 checks HDOP and satellite count; a poor raw fix falls back to network-based location or a 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6-sample weighted average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Accepted fixes are smoothed through a 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2D Kalman filter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 (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gl868_modem_set_kalman_params()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, movement profiles for stationary / walking / running) to reduce position jitter.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9" name="Picture 5" descr="image.png"/>
          <p:cNvPicPr/>
          <p:nvPr/>
        </p:nvPicPr>
        <p:blipFill>
          <a:blip r:embed="rId2"/>
          <a:stretch/>
        </p:blipFill>
        <p:spPr>
          <a:xfrm>
            <a:off x="7805520" y="1862280"/>
            <a:ext cx="4040640" cy="340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Picture 2" descr=""/>
          <p:cNvPicPr/>
          <p:nvPr/>
        </p:nvPicPr>
        <p:blipFill>
          <a:blip r:embed="rId1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171" name="Title 5"/>
          <p:cNvSpPr/>
          <p:nvPr/>
        </p:nvSpPr>
        <p:spPr>
          <a:xfrm>
            <a:off x="81720" y="79308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</a:pPr>
            <a:r>
              <a:rPr b="0" lang="en-IN" sz="4400" spc="-1" strike="noStrike">
                <a:solidFill>
                  <a:schemeClr val="dk1"/>
                </a:solidFill>
                <a:latin typeface="Times New Roman"/>
              </a:rPr>
              <a:t>6. Voice Communication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itle 5"/>
          <p:cNvSpPr/>
          <p:nvPr/>
        </p:nvSpPr>
        <p:spPr>
          <a:xfrm>
            <a:off x="81720" y="158580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</a:pPr>
            <a:endParaRPr b="0" lang="en-IN" sz="2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73" name="Content 2"/>
          <p:cNvSpPr/>
          <p:nvPr/>
        </p:nvSpPr>
        <p:spPr>
          <a:xfrm>
            <a:off x="234000" y="1738440"/>
            <a:ext cx="11643480" cy="35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make_call()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 configures the external speaker/microphone audio path before dialing and verifies the call connected via 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AT+CLCC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 before treating it as active.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If the dial command doesn't return an explicit OK, the code falls back to checking phone activity (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AT+CPAS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) and call-list state to confirm the call actually went through.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gl868_modem_hang_up_call()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 issues 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ATH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 to end an active call on demand, independent of the emergency-alert flow.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Picture 2" descr=""/>
          <p:cNvPicPr/>
          <p:nvPr/>
        </p:nvPicPr>
        <p:blipFill>
          <a:blip r:embed="rId1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175" name="Title 5"/>
          <p:cNvSpPr/>
          <p:nvPr/>
        </p:nvSpPr>
        <p:spPr>
          <a:xfrm>
            <a:off x="81720" y="79308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</a:pPr>
            <a:r>
              <a:rPr b="0" lang="en-IN" sz="4400" spc="-1" strike="noStrike">
                <a:solidFill>
                  <a:schemeClr val="dk1"/>
                </a:solidFill>
                <a:latin typeface="Times New Roman"/>
              </a:rPr>
              <a:t>7. SMS Alerts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itle 5"/>
          <p:cNvSpPr/>
          <p:nvPr/>
        </p:nvSpPr>
        <p:spPr>
          <a:xfrm>
            <a:off x="81720" y="158580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</a:pPr>
            <a:endParaRPr b="0" lang="en-IN" sz="2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77" name="Content 2"/>
          <p:cNvSpPr/>
          <p:nvPr/>
        </p:nvSpPr>
        <p:spPr>
          <a:xfrm>
            <a:off x="234000" y="1738440"/>
            <a:ext cx="11643480" cy="35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All SMS sending goes through a shared text-mode path (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AT+CMGF=1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) with a prompt wait and Ctrl-Z terminator, used by test, live-tracking, and emergency messages alike.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Emergency alerts support 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multiple recipients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 by splitting the configured number string on commas or semicolons and sending to each independently.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gl868_modem_send_test_sms()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 and 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gl868_modem_send_sms_to()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 expose the same mechanism for diagnostics and application-triggered messages outside the SOS flow.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Picture 2" descr=""/>
          <p:cNvPicPr/>
          <p:nvPr/>
        </p:nvPicPr>
        <p:blipFill>
          <a:blip r:embed="rId1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179" name="Title 5"/>
          <p:cNvSpPr/>
          <p:nvPr/>
        </p:nvSpPr>
        <p:spPr>
          <a:xfrm>
            <a:off x="81720" y="79308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</a:pPr>
            <a:r>
              <a:rPr b="0" lang="en-IN" sz="4400" spc="-1" strike="noStrike">
                <a:solidFill>
                  <a:schemeClr val="dk1"/>
                </a:solidFill>
                <a:latin typeface="Times New Roman"/>
              </a:rPr>
              <a:t>8. HTTP JSON Event Upload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itle 5"/>
          <p:cNvSpPr/>
          <p:nvPr/>
        </p:nvSpPr>
        <p:spPr>
          <a:xfrm>
            <a:off x="81720" y="158580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</a:pPr>
            <a:endParaRPr b="0" lang="en-IN" sz="2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81" name="Content 2"/>
          <p:cNvSpPr/>
          <p:nvPr/>
        </p:nvSpPr>
        <p:spPr>
          <a:xfrm>
            <a:off x="234000" y="1738440"/>
            <a:ext cx="11643480" cy="35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gl868_modem_upload_telemetry()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 builds the normalized Smart-City event JSON, used for SOS triggers, SOS updates, and periodic live-tracking heartbeats.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open_gprs_bearer()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 attaches GPRS and opens a SAPBR bearer; 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post_http_json_attempt()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 then starts the HTTP session (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AT+HTTPINIT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), sets URL/content-type via 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AT+HTTPPARA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, and uploads the JSON with 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AT+HTTPDATA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The POST runs via 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AT+HTTPACTION=1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; the response is read with 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AT+HTTPREAD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 and the session closed with </a:t>
            </a:r>
            <a:r>
              <a:rPr b="1" lang="en-IN" sz="2200" spc="-1" strike="noStrike">
                <a:solidFill>
                  <a:schemeClr val="dk1"/>
                </a:solidFill>
                <a:latin typeface="Times New Roman"/>
              </a:rPr>
              <a:t>AT+HTTPTERM</a:t>
            </a:r>
            <a:r>
              <a:rPr b="0" lang="en-IN" sz="2200" spc="-1" strike="noStrike">
                <a:solidFill>
                  <a:schemeClr val="dk1"/>
                </a:solidFill>
                <a:latin typeface="Times New Roman"/>
              </a:rPr>
              <a:t> — an HTTP 2xx status confirms the upload.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50000"/>
              </a:lnSpc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Picture 2" descr=""/>
          <p:cNvPicPr/>
          <p:nvPr/>
        </p:nvPicPr>
        <p:blipFill>
          <a:blip r:embed="rId1"/>
          <a:stretch/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183" name="Title 5"/>
          <p:cNvSpPr/>
          <p:nvPr/>
        </p:nvSpPr>
        <p:spPr>
          <a:xfrm>
            <a:off x="81720" y="79308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90000"/>
              </a:lnSpc>
            </a:pPr>
            <a:r>
              <a:rPr b="0" lang="en-IN" sz="4400" spc="-1" strike="noStrike">
                <a:solidFill>
                  <a:schemeClr val="dk1"/>
                </a:solidFill>
                <a:latin typeface="Times New Roman"/>
              </a:rPr>
              <a:t>Smart-City Event JSON Schema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itle 5"/>
          <p:cNvSpPr/>
          <p:nvPr/>
        </p:nvSpPr>
        <p:spPr>
          <a:xfrm>
            <a:off x="81720" y="1585800"/>
            <a:ext cx="77234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</a:pPr>
            <a:endParaRPr b="0" lang="en-IN" sz="2200" spc="-1" strike="noStrike">
              <a:solidFill>
                <a:schemeClr val="dk1"/>
              </a:solidFill>
              <a:latin typeface="Times New Roman"/>
            </a:endParaRPr>
          </a:p>
        </p:txBody>
      </p:sp>
      <p:sp>
        <p:nvSpPr>
          <p:cNvPr id="185" name="Content 2"/>
          <p:cNvSpPr/>
          <p:nvPr/>
        </p:nvSpPr>
        <p:spPr>
          <a:xfrm>
            <a:off x="234000" y="1738440"/>
            <a:ext cx="11643480" cy="35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50000"/>
              </a:lnSpc>
            </a:pPr>
            <a:endParaRPr b="0" lang="en-IN" sz="2200" spc="-1" strike="noStrike">
              <a:solidFill>
                <a:schemeClr val="dk1"/>
              </a:solidFill>
              <a:latin typeface="Times New Roman"/>
            </a:endParaRPr>
          </a:p>
        </p:txBody>
      </p:sp>
      <p:graphicFrame>
        <p:nvGraphicFramePr>
          <p:cNvPr id="186" name="Table 5"/>
          <p:cNvGraphicFramePr/>
          <p:nvPr/>
        </p:nvGraphicFramePr>
        <p:xfrm>
          <a:off x="234000" y="1519560"/>
          <a:ext cx="11643480" cy="4987440"/>
        </p:xfrm>
        <a:graphic>
          <a:graphicData uri="http://schemas.openxmlformats.org/drawingml/2006/table">
            <a:tbl>
              <a:tblPr/>
              <a:tblGrid>
                <a:gridCol w="1703160"/>
                <a:gridCol w="1937160"/>
                <a:gridCol w="800280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Field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Type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Description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schema_version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string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Event schema identifier — currently "smart-city-event/1.0"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event_id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string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Unique ID generated fresh for every SOS activation / event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correlation_id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string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Groups every event belonging to one SOS episode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event_type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string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e.g. sos.triggered, sos.updated, device.live_location, device.heartbeat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severity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string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"critical" for SOS events, "info" for heartbeats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occurred_at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string (RFC 3339)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Actual event time in UTC, e.g. 2026-09-02T08:30:00Z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source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object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kind: "smart-band", source_id (same stable ID as payload.band_id)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location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object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kind: "geo", site_id, latitude, longitude, accuracy_m from the current GPS fix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evidence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array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Reserved for supporting media links; empty by default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payload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object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Event-specific fields, e.g. band_id, trigger, sos_status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</TotalTime>
  <Application>LibreOffice/24.2.7.2$Linux_X86_64 LibreOffice_project/420$Build-2</Application>
  <AppVersion>15.0000</AppVersion>
  <Words>1582</Words>
  <Paragraphs>216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2025-03-19T10:59:18Z</dcterms:created>
  <dc:creator>Aadhi Seshu</dc:creator>
  <dc:description/>
  <dc:language>en-US</dc:language>
  <cp:lastModifiedBy/>
  <dcterms:modified xsi:type="dcterms:W3CDTF">2026-09-03T13:17:14Z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18</vt:i4>
  </property>
</Properties>
</file>